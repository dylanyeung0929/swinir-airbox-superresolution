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面向边缘智能的 SwinIR 端侧超分系统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语义路由、时序复用与能效协同优化（节点逐页详版）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Songti SC"/>
              </a:defRPr>
            </a:pPr>
            <a:r>
              <a:t>第九届全国大学生集成电路创新创业大赛（算能杯）</a:t>
            </a:r>
          </a:p>
          <a:p>
            <a:pPr>
              <a:defRPr sz="2000">
                <a:latin typeface="Songti SC"/>
              </a:defRPr>
            </a:pPr>
            <a:r>
              <a:t>报告类型：详细设计报告配套演示文稿（提交版）</a:t>
            </a:r>
          </a:p>
          <a:p>
            <a:pPr>
              <a:defRPr sz="2000">
                <a:latin typeface="Songti SC"/>
              </a:defRPr>
            </a:pPr>
            <a:r>
              <a:t>队伍编号：CICC1008267</a:t>
            </a:r>
          </a:p>
          <a:p>
            <a:pPr>
              <a:defRPr sz="2000">
                <a:latin typeface="Songti SC"/>
              </a:defRPr>
            </a:pPr>
            <a:r>
              <a:t>队伍名称：啊对的对的对吗不对不队</a:t>
            </a:r>
          </a:p>
          <a:p>
            <a:pPr>
              <a:defRPr sz="2000">
                <a:latin typeface="Songti SC"/>
              </a:defRPr>
            </a:pPr>
            <a:r>
              <a:t>作品名称：基于 AirBox（BM1684X）的 SwinIR 端侧超分辨率系统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重要内容预览（封面后第1页）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1064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主要工作：完成 SwinIR 在 AirBox 端侧从“可运行”到“可持续运行”的系统化建设</a:t>
            </a:r>
          </a:p>
          <a:p>
            <a:pPr>
              <a:defRPr sz="1600">
                <a:latin typeface="Songti SC"/>
              </a:defRPr>
            </a:pPr>
            <a:r>
              <a:t>创新点：双路由、时序复用、端云协同、DVFS、盲超分防御、蒸馏扩展路径</a:t>
            </a:r>
          </a:p>
          <a:p>
            <a:pPr>
              <a:defRPr sz="1600">
                <a:latin typeface="Songti SC"/>
              </a:defRPr>
            </a:pPr>
            <a:r>
              <a:t>关键结果：质量稳定、视频吞吐提升、带宽显著节省、动态节电 42.71%</a:t>
            </a:r>
          </a:p>
          <a:p>
            <a:pPr>
              <a:defRPr sz="1600">
                <a:latin typeface="Songti SC"/>
              </a:defRPr>
            </a:pPr>
            <a:r>
              <a:t>结论：形成可复现证据链与可扩展架构，具备竞赛提交与后续工程化基础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Songti SC"/>
              </a:defRPr>
            </a:pPr>
            <a:r>
              <a:t>1. 项目背景与系统框架</a:t>
            </a:r>
          </a:p>
          <a:p>
            <a:pPr>
              <a:defRPr sz="2000">
                <a:latin typeface="Songti SC"/>
              </a:defRPr>
            </a:pPr>
            <a:r>
              <a:t>2. 模型选型与部署链路</a:t>
            </a:r>
          </a:p>
          <a:p>
            <a:pPr>
              <a:defRPr sz="2000">
                <a:latin typeface="Songti SC"/>
              </a:defRPr>
            </a:pPr>
            <a:r>
              <a:t>3. Node0–Node15 逐节点分析（每节点单页）</a:t>
            </a:r>
          </a:p>
          <a:p>
            <a:pPr>
              <a:defRPr sz="2000">
                <a:latin typeface="Songti SC"/>
              </a:defRPr>
            </a:pPr>
            <a:r>
              <a:t>4. 总体结果、风险控制与提交价值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项目背景与任务定义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云端超分在实时性、隐私合规、带宽成本方面存在明显短板</a:t>
            </a:r>
          </a:p>
          <a:p>
            <a:pPr>
              <a:defRPr sz="1600">
                <a:latin typeface="Songti SC"/>
              </a:defRPr>
            </a:pPr>
            <a:r>
              <a:t>边缘部署受算力、显存、功耗约束，不能直接照搬高复杂模型方案</a:t>
            </a:r>
          </a:p>
          <a:p>
            <a:pPr>
              <a:defRPr sz="1600">
                <a:latin typeface="Songti SC"/>
              </a:defRPr>
            </a:pPr>
            <a:r>
              <a:t>项目目标：在 AirBox 上实现画质、时延、带宽、能耗的协同优化</a:t>
            </a:r>
          </a:p>
          <a:p>
            <a:pPr>
              <a:defRPr sz="1600">
                <a:latin typeface="Songti SC"/>
              </a:defRPr>
            </a:pPr>
            <a:r>
              <a:t>交付要求：可复现、可验证、可扩展，而非单次跑分演示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作品介绍与应用场景（评审要求对齐）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覆盖智能教育、医疗健康、智能机器人、自动驾驶/车路协同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Songti SC"/>
              </a:defRPr>
            </a:pPr>
            <a:r>
              <a:t>智能教育：低清课件/板书增强，提升投屏与录播可读性；对应语义优先与动态 TTA 策略。</a:t>
            </a:r>
          </a:p>
          <a:p>
            <a:pPr>
              <a:defRPr sz="1500">
                <a:latin typeface="Songti SC"/>
              </a:defRPr>
            </a:pPr>
            <a:r>
              <a:t>医疗健康：远程会诊与历史影像辅助查看，强调结构保真与伪影抑制；对应分块融合与盲超分防御。</a:t>
            </a:r>
          </a:p>
          <a:p>
            <a:pPr>
              <a:defRPr sz="1500">
                <a:latin typeface="Songti SC"/>
              </a:defRPr>
            </a:pPr>
            <a:r>
              <a:t>智能机器人：移动视觉前端增强，兼顾实时性与续航；对应时序复用与 DVFS 调度。</a:t>
            </a:r>
          </a:p>
          <a:p>
            <a:pPr>
              <a:defRPr sz="1500">
                <a:latin typeface="Songti SC"/>
              </a:defRPr>
            </a:pPr>
            <a:r>
              <a:t>自动驾驶/车路协同：弱网传输恢复与关键目标可辨识；对应端云协同档位切换策略。</a:t>
            </a:r>
          </a:p>
          <a:p>
            <a:pPr>
              <a:defRPr sz="1500">
                <a:latin typeface="Songti SC"/>
              </a:defRPr>
            </a:pPr>
            <a:r>
              <a:t>当前已验证：交通/安防视频与工业质检图像；其余场景按同一框架可迁移落地。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系统总体框架与多硬件可迁移性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Songti SC"/>
              </a:defRPr>
            </a:pPr>
            <a:r>
              <a:t>部署平台：当前以 BM1684X（AirBox）实机验证，架构兼容 BM168X 系列迁移。</a:t>
            </a:r>
          </a:p>
          <a:p>
            <a:pPr>
              <a:defRPr sz="1500">
                <a:latin typeface="Songti SC"/>
              </a:defRPr>
            </a:pPr>
            <a:r>
              <a:t>云边协同能力：框架可接入算能云平台（如 SophNet）进行离线训练/在线分发与边缘执行。</a:t>
            </a:r>
          </a:p>
          <a:p>
            <a:pPr>
              <a:defRPr sz="1500">
                <a:latin typeface="Songti SC"/>
              </a:defRPr>
            </a:pPr>
            <a:r>
              <a:t>四层协同：输入层、策略层、执行层、评估层；控制流与数据流分离。</a:t>
            </a:r>
          </a:p>
          <a:p>
            <a:pPr>
              <a:defRPr sz="1500">
                <a:latin typeface="Songti SC"/>
              </a:defRPr>
            </a:pPr>
            <a:r>
              <a:t>硬件映射原则：重算子上 TPU、轻决策留 CPU、最短路径回写，减少数据搬运。</a:t>
            </a:r>
          </a:p>
          <a:p>
            <a:pPr>
              <a:defRPr sz="1500">
                <a:latin typeface="Songti SC"/>
              </a:defRPr>
            </a:pPr>
            <a:r>
              <a:t>工程目标：在不同 TPU 平台保持方法可复用、指标可对齐、部署可回滚。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模型优化与硬件适配（评审要求3）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Songti SC"/>
              </a:defRPr>
            </a:pPr>
            <a:r>
              <a:t>核心模型优化路径：稳定精度基线（BF16）→ 混合精度探索（Node9）→ 蒸馏扩展（Node15）。</a:t>
            </a:r>
          </a:p>
          <a:p>
            <a:pPr>
              <a:defRPr sz="1500">
                <a:latin typeface="Songti SC"/>
              </a:defRPr>
            </a:pPr>
            <a:r>
              <a:t>硬件适配重点：并行计算利用、内存带宽压力控制、分块参数与显存峰值约束。</a:t>
            </a:r>
          </a:p>
          <a:p>
            <a:pPr>
              <a:defRPr sz="1500">
                <a:latin typeface="Songti SC"/>
              </a:defRPr>
            </a:pPr>
            <a:r>
              <a:t>策略优化补充：语义/纹理双路由、时序复用、动态 TTA 与 DVFS 协同降载。</a:t>
            </a:r>
          </a:p>
          <a:p>
            <a:pPr>
              <a:defRPr sz="1500">
                <a:latin typeface="Songti SC"/>
              </a:defRPr>
            </a:pPr>
            <a:r>
              <a:t>适配目标：在保证可用质量前提下，提高吞吐效率并降低长期运行能耗。</a:t>
            </a:r>
          </a:p>
          <a:p>
            <a:pPr>
              <a:defRPr sz="1500">
                <a:latin typeface="Songti SC"/>
              </a:defRPr>
            </a:pPr>
            <a:r>
              <a:t>结果支撑：Node6/11 提升视频效率，Node13 实现 42.71% 动态节电。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TPU-MLIR 工具链实践与应用（评审要求4）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Songti SC"/>
              </a:defRPr>
            </a:pPr>
            <a:r>
              <a:t>完整链路：PyTorch(.pth) → ONNX → MLIR → BModel，并在 BM1684X 端侧实机验收。</a:t>
            </a:r>
          </a:p>
          <a:p>
            <a:pPr>
              <a:defRPr sz="1500">
                <a:latin typeface="Songti SC"/>
              </a:defRPr>
            </a:pPr>
            <a:r>
              <a:t>关键脚本：model_transform.py / model_deploy；统一记录输入形状、量化类型、校验样本。</a:t>
            </a:r>
          </a:p>
          <a:p>
            <a:pPr>
              <a:defRPr sz="1500">
                <a:latin typeface="Songti SC"/>
              </a:defRPr>
            </a:pPr>
            <a:r>
              <a:t>问题处置1（图优化/算子兼容）：约束导出图结构，减少不支持算子与语义偏移。</a:t>
            </a:r>
          </a:p>
          <a:p>
            <a:pPr>
              <a:defRPr sz="1500">
                <a:latin typeface="Songti SC"/>
              </a:defRPr>
            </a:pPr>
            <a:r>
              <a:t>问题处置2（LayerGroup/内存约束）：结合分块参数控制中间张量峰值。</a:t>
            </a:r>
          </a:p>
          <a:p>
            <a:pPr>
              <a:defRPr sz="1500">
                <a:latin typeface="Songti SC"/>
              </a:defRPr>
            </a:pPr>
            <a:r>
              <a:t>问题处置3（权重重排/精度偏差）：固定样本回归比对，建立可追溯回滚机制。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40480"/>
            <a:ext cx="438912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608076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示例：链路级优化带来的端侧收益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Node2：硬件预处理接管与零拷贝降载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问题：CPU/Numpy 路径搬运开销高，系统吞吐抖动明显</a:t>
            </a:r>
          </a:p>
          <a:p>
            <a:pPr>
              <a:defRPr sz="1300">
                <a:latin typeface="Songti SC"/>
              </a:defRPr>
            </a:pPr>
            <a:r>
              <a:t>做法：预处理下沉到硬件友好路径，减少数据搬运</a:t>
            </a:r>
          </a:p>
          <a:p>
            <a:pPr>
              <a:defRPr sz="1300">
                <a:latin typeface="Songti SC"/>
              </a:defRPr>
            </a:pPr>
            <a:r>
              <a:t>价值：改善链路稳定性，释放推理主干性能</a:t>
            </a:r>
          </a:p>
          <a:p>
            <a:pPr>
              <a:defRPr sz="1300">
                <a:latin typeface="Songti SC"/>
              </a:defRPr>
            </a:pPr>
            <a:r>
              <a:t>结论：系统瓶颈不只在主模型，链路治理同样关键</a:t>
            </a:r>
          </a:p>
        </p:txBody>
      </p:sp>
      <p:pic>
        <p:nvPicPr>
          <p:cNvPr id="4" name="Picture 3" descr="03_Node2_ZeroCopy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图：03 Node2 ZeroCopy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Node3：大图分块重建与边界融合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问题：高分辨率输入无法全图推理，分块后易出现边界伪影</a:t>
            </a:r>
          </a:p>
          <a:p>
            <a:pPr>
              <a:defRPr sz="1300">
                <a:latin typeface="Songti SC"/>
              </a:defRPr>
            </a:pPr>
            <a:r>
              <a:t>做法：Tile+Overlap+加权融合，控制拼接误差</a:t>
            </a:r>
          </a:p>
          <a:p>
            <a:pPr>
              <a:defRPr sz="1300">
                <a:latin typeface="Songti SC"/>
              </a:defRPr>
            </a:pPr>
            <a:r>
              <a:t>价值：在显存约束下维持结构连续和可用画质</a:t>
            </a:r>
          </a:p>
          <a:p>
            <a:pPr>
              <a:defRPr sz="1300">
                <a:latin typeface="Songti SC"/>
              </a:defRPr>
            </a:pPr>
            <a:r>
              <a:t>结论：将内存问题转化为可配置拼接问题</a:t>
            </a:r>
          </a:p>
        </p:txBody>
      </p:sp>
      <p:pic>
        <p:nvPicPr>
          <p:cNvPr id="4" name="Picture 3" descr="04_Node3_Boundary_Fusion_Arti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图：04 Node3 Boundary Fusion Artifacts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Node4：复杂度路由与冗余计算抑制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问题：全区域同级重建导致大量无效算力消耗</a:t>
            </a:r>
          </a:p>
          <a:p>
            <a:pPr>
              <a:defRPr sz="1300">
                <a:latin typeface="Songti SC"/>
              </a:defRPr>
            </a:pPr>
            <a:r>
              <a:t>做法：依据复杂度分布对区域进行差异化处理</a:t>
            </a:r>
          </a:p>
          <a:p>
            <a:pPr>
              <a:defRPr sz="1300">
                <a:latin typeface="Songti SC"/>
              </a:defRPr>
            </a:pPr>
            <a:r>
              <a:t>价值：把高成本路径集中到真正需要的区域</a:t>
            </a:r>
          </a:p>
          <a:p>
            <a:pPr>
              <a:defRPr sz="1300">
                <a:latin typeface="Songti SC"/>
              </a:defRPr>
            </a:pPr>
            <a:r>
              <a:t>结论：算力分配应数据驱动而非均匀处理</a:t>
            </a:r>
          </a:p>
        </p:txBody>
      </p:sp>
      <p:pic>
        <p:nvPicPr>
          <p:cNvPr id="4" name="Picture 3" descr="05_Node4_Entropy_Violi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图：05 Node4 Entropy Violin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Node5：语义优先与纹理兜底双路由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问题：仅靠纹理阈值可能漏掉业务关键目标区域</a:t>
            </a:r>
          </a:p>
          <a:p>
            <a:pPr>
              <a:defRPr sz="1300">
                <a:latin typeface="Songti SC"/>
              </a:defRPr>
            </a:pPr>
            <a:r>
              <a:t>做法：语义优先保障关键目标，纹理策略补充兜底</a:t>
            </a:r>
          </a:p>
          <a:p>
            <a:pPr>
              <a:defRPr sz="1300">
                <a:latin typeface="Songti SC"/>
              </a:defRPr>
            </a:pPr>
            <a:r>
              <a:t>价值：提升任务相关区域重建收益</a:t>
            </a:r>
          </a:p>
          <a:p>
            <a:pPr>
              <a:defRPr sz="1300">
                <a:latin typeface="Songti SC"/>
              </a:defRPr>
            </a:pPr>
            <a:r>
              <a:t>结论：双路由实现“业务价值优先”的算力投入</a:t>
            </a:r>
          </a:p>
        </p:txBody>
      </p:sp>
      <p:pic>
        <p:nvPicPr>
          <p:cNvPr id="4" name="Picture 3" descr="06_Node45_DualBrain_Rout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441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图：06 Node45 DualBrain Routing 3D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Node6：视频并发流水线与有序输出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问题：视频实时处理中易出现乱序、卡顿与时延堆积</a:t>
            </a:r>
          </a:p>
          <a:p>
            <a:pPr>
              <a:defRPr sz="1300">
                <a:latin typeface="Songti SC"/>
              </a:defRPr>
            </a:pPr>
            <a:r>
              <a:t>做法：Reader/Worker/Reorder/Writer 四段式流水线</a:t>
            </a:r>
          </a:p>
          <a:p>
            <a:pPr>
              <a:defRPr sz="1300">
                <a:latin typeface="Songti SC"/>
              </a:defRPr>
            </a:pPr>
            <a:r>
              <a:t>价值：将并发能力转化为可控吞吐与稳定输出</a:t>
            </a:r>
          </a:p>
          <a:p>
            <a:pPr>
              <a:defRPr sz="1300">
                <a:latin typeface="Songti SC"/>
              </a:defRPr>
            </a:pPr>
            <a:r>
              <a:t>结论：并发优化核心是秩序控制而非线程数量</a:t>
            </a:r>
          </a:p>
        </p:txBody>
      </p:sp>
      <p:pic>
        <p:nvPicPr>
          <p:cNvPr id="4" name="Picture 3" descr="07_Node6_Video_InMemor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2839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图：07 Node6 Video InMemory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Node6：视频处理前后对比截图（实测）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输入帧在局部纹理与边缘区域存在模糊和细节损失</a:t>
            </a:r>
          </a:p>
          <a:p>
            <a:pPr>
              <a:defRPr sz="1300">
                <a:latin typeface="Songti SC"/>
              </a:defRPr>
            </a:pPr>
            <a:r>
              <a:t>输出帧在结构轮廓、边缘过渡和局部细节上更稳定</a:t>
            </a:r>
          </a:p>
          <a:p>
            <a:pPr>
              <a:defRPr sz="1300">
                <a:latin typeface="Songti SC"/>
              </a:defRPr>
            </a:pPr>
            <a:r>
              <a:t>验证了 Node6 方案在连续流场景下的可视化可用性</a:t>
            </a:r>
          </a:p>
        </p:txBody>
      </p:sp>
      <p:pic>
        <p:nvPicPr>
          <p:cNvPr id="4" name="Picture 3" descr="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3063240" cy="1688034"/>
          </a:xfrm>
          <a:prstGeom prst="rect">
            <a:avLst/>
          </a:prstGeom>
        </p:spPr>
      </p:pic>
      <p:pic>
        <p:nvPicPr>
          <p:cNvPr id="5" name="Picture 4" descr="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188720"/>
            <a:ext cx="3063240" cy="1685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58978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输入帧截图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58978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Node6 输出帧截图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Node7：检测-超分-再检测闭环验证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问题：仅有视觉增强不足以证明业务价值</a:t>
            </a:r>
          </a:p>
          <a:p>
            <a:pPr>
              <a:defRPr sz="1300">
                <a:latin typeface="Songti SC"/>
              </a:defRPr>
            </a:pPr>
            <a:r>
              <a:t>做法：构建“检测→超分→再检测”闭环指标验证</a:t>
            </a:r>
          </a:p>
          <a:p>
            <a:pPr>
              <a:defRPr sz="1300">
                <a:latin typeface="Songti SC"/>
              </a:defRPr>
            </a:pPr>
            <a:r>
              <a:t>价值：在低清/远距/小目标场景置信度提升更明显</a:t>
            </a:r>
          </a:p>
          <a:p>
            <a:pPr>
              <a:defRPr sz="1300">
                <a:latin typeface="Songti SC"/>
              </a:defRPr>
            </a:pPr>
            <a:r>
              <a:t>结论：超分对下游任务存在可量化增益</a:t>
            </a:r>
          </a:p>
        </p:txBody>
      </p:sp>
      <p:pic>
        <p:nvPicPr>
          <p:cNvPr id="4" name="Picture 3" descr="09_Node7_Closed_Loop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50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图：09 Node7 Closed Loop Confidence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Node8：动态 TTA 甜点位策略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问题：全量 TTA 虽质量高，但实时代价过大</a:t>
            </a:r>
          </a:p>
          <a:p>
            <a:pPr>
              <a:defRPr sz="1300">
                <a:latin typeface="Songti SC"/>
              </a:defRPr>
            </a:pPr>
            <a:r>
              <a:t>做法：按区域/不确定性触发增强分支</a:t>
            </a:r>
          </a:p>
          <a:p>
            <a:pPr>
              <a:defRPr sz="1300">
                <a:latin typeface="Songti SC"/>
              </a:defRPr>
            </a:pPr>
            <a:r>
              <a:t>价值：接近质量上限同时显著降低时延</a:t>
            </a:r>
          </a:p>
          <a:p>
            <a:pPr>
              <a:defRPr sz="1300">
                <a:latin typeface="Songti SC"/>
              </a:defRPr>
            </a:pPr>
            <a:r>
              <a:t>结论：能力应按需开启，而非全局全开</a:t>
            </a:r>
          </a:p>
        </p:txBody>
      </p:sp>
      <p:pic>
        <p:nvPicPr>
          <p:cNvPr id="4" name="Picture 3" descr="11_Node8_TTA_Effici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441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图：11 Node8 TTA Efficiency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Node9：混合精度探索（在研）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问题：在资源受限场景进一步挖掘性能与内存空间</a:t>
            </a:r>
          </a:p>
          <a:p>
            <a:pPr>
              <a:defRPr sz="1300">
                <a:latin typeface="Songti SC"/>
              </a:defRPr>
            </a:pPr>
            <a:r>
              <a:t>方向：识别敏感层、控制中间张量峰值、抑制精度漂移</a:t>
            </a:r>
          </a:p>
          <a:p>
            <a:pPr>
              <a:defRPr sz="1300">
                <a:latin typeface="Songti SC"/>
              </a:defRPr>
            </a:pPr>
            <a:r>
              <a:t>阶段：暂不计入最终收益统计，作为后续重点研发方向</a:t>
            </a:r>
          </a:p>
          <a:p>
            <a:pPr>
              <a:defRPr sz="1300">
                <a:latin typeface="Songti SC"/>
              </a:defRPr>
            </a:pPr>
            <a:r>
              <a:t>结论：为下一步“性能-资源双优化”预留路径</a:t>
            </a:r>
          </a:p>
        </p:txBody>
      </p:sp>
      <p:pic>
        <p:nvPicPr>
          <p:cNvPr id="4" name="Picture 3" descr="02_Node1_4_Evolution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441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图：02 Node1 4 Evolution Tradeoff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Node10：端云协同与带宽-质量平衡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问题：弱网条件下传输压力与恢复质量冲突突出</a:t>
            </a:r>
          </a:p>
          <a:p>
            <a:pPr>
              <a:defRPr sz="1300">
                <a:latin typeface="Songti SC"/>
              </a:defRPr>
            </a:pPr>
            <a:r>
              <a:t>做法：建立高保真档与甜点位档两级策略</a:t>
            </a:r>
          </a:p>
          <a:p>
            <a:pPr>
              <a:defRPr sz="1300">
                <a:latin typeface="Songti SC"/>
              </a:defRPr>
            </a:pPr>
            <a:r>
              <a:t>价值：在可恢复区间内实现传输成本与质量平衡</a:t>
            </a:r>
          </a:p>
          <a:p>
            <a:pPr>
              <a:defRPr sz="1300">
                <a:latin typeface="Songti SC"/>
              </a:defRPr>
            </a:pPr>
            <a:r>
              <a:t>结论：固定压缩率不可取，需按链路状态动态切换</a:t>
            </a:r>
          </a:p>
        </p:txBody>
      </p:sp>
      <p:pic>
        <p:nvPicPr>
          <p:cNvPr id="4" name="Picture 3" descr="12_Node10_Bandwidth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4175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图：12 Node10 Bandwidth Efficiency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Node11：跨帧复用与时序降载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问题：逐帧全量推理重复计算多，吞吐与能耗压力大</a:t>
            </a:r>
          </a:p>
          <a:p>
            <a:pPr>
              <a:defRPr sz="1300">
                <a:latin typeface="Songti SC"/>
              </a:defRPr>
            </a:pPr>
            <a:r>
              <a:t>做法：静态背景复用上一帧结果，动态区域继续重建</a:t>
            </a:r>
          </a:p>
          <a:p>
            <a:pPr>
              <a:defRPr sz="1300">
                <a:latin typeface="Songti SC"/>
              </a:defRPr>
            </a:pPr>
            <a:r>
              <a:t>价值：在阈值控制下实现“降载不降质”</a:t>
            </a:r>
          </a:p>
          <a:p>
            <a:pPr>
              <a:defRPr sz="1300">
                <a:latin typeface="Songti SC"/>
              </a:defRPr>
            </a:pPr>
            <a:r>
              <a:t>结论：时间维优化是视频场景核心收益来源</a:t>
            </a:r>
          </a:p>
        </p:txBody>
      </p:sp>
      <p:pic>
        <p:nvPicPr>
          <p:cNvPr id="4" name="Picture 3" descr="13_Node11_Temporal_Reuse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642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图：Node11 时序复用效率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Node12：后处理链路下沉与 I/O 墙削弱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问题：后处理链路存在解释器与跨语言调用开销</a:t>
            </a:r>
          </a:p>
          <a:p>
            <a:pPr>
              <a:defRPr sz="1300">
                <a:latin typeface="Songti SC"/>
              </a:defRPr>
            </a:pPr>
            <a:r>
              <a:t>做法：引入 C++ 接口探索，降低尾时延开销</a:t>
            </a:r>
          </a:p>
          <a:p>
            <a:pPr>
              <a:defRPr sz="1300">
                <a:latin typeface="Songti SC"/>
              </a:defRPr>
            </a:pPr>
            <a:r>
              <a:t>价值：整链性能提升，证明“周边算子治理”必要性</a:t>
            </a:r>
          </a:p>
          <a:p>
            <a:pPr>
              <a:defRPr sz="1300">
                <a:latin typeface="Songti SC"/>
              </a:defRPr>
            </a:pPr>
            <a:r>
              <a:t>结论：系统优化应覆盖主模型与后处理全链路</a:t>
            </a:r>
          </a:p>
        </p:txBody>
      </p:sp>
      <p:pic>
        <p:nvPicPr>
          <p:cNvPr id="4" name="Picture 3" descr="15_Node12_IO_Wall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785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图：Node12 I/O 墙削弱效果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Node13：DVFS 功耗感知调度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问题：固定高频运行导致长期功耗与温升压力</a:t>
            </a:r>
          </a:p>
          <a:p>
            <a:pPr>
              <a:defRPr sz="1300">
                <a:latin typeface="Songti SC"/>
              </a:defRPr>
            </a:pPr>
            <a:r>
              <a:t>做法：依据场景复杂度动态切换 TURBO/NORMAL/ECO/SLEEP 档位</a:t>
            </a:r>
          </a:p>
          <a:p>
            <a:pPr>
              <a:defRPr sz="1300">
                <a:latin typeface="Songti SC"/>
              </a:defRPr>
            </a:pPr>
            <a:r>
              <a:t>价值：在保证可用性的前提下降低运行能耗（节电 42.71%）</a:t>
            </a:r>
          </a:p>
          <a:p>
            <a:pPr>
              <a:defRPr sz="1300">
                <a:latin typeface="Songti SC"/>
              </a:defRPr>
            </a:pPr>
            <a:r>
              <a:t>结论：能效调度是边缘长期运行能力的重要组成</a:t>
            </a:r>
          </a:p>
        </p:txBody>
      </p:sp>
      <p:pic>
        <p:nvPicPr>
          <p:cNvPr id="4" name="Picture 3" descr="16_Node13_Real_DVFS_Power_Sa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6492240" cy="4328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342900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图：Node13 DVFS 节电效果</a:t>
            </a:r>
          </a:p>
        </p:txBody>
      </p:sp>
      <p:pic>
        <p:nvPicPr>
          <p:cNvPr id="6" name="Picture 5" descr="turbo（汽车进入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40480"/>
            <a:ext cx="1554480" cy="874675"/>
          </a:xfrm>
          <a:prstGeom prst="rect">
            <a:avLst/>
          </a:prstGeom>
        </p:spPr>
      </p:pic>
      <p:pic>
        <p:nvPicPr>
          <p:cNvPr id="7" name="Picture 6" descr="normal（正在驶出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840480"/>
            <a:ext cx="1554480" cy="874675"/>
          </a:xfrm>
          <a:prstGeom prst="rect">
            <a:avLst/>
          </a:prstGeom>
        </p:spPr>
      </p:pic>
      <p:pic>
        <p:nvPicPr>
          <p:cNvPr id="8" name="Picture 7" descr="eco（几乎驶出）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840480"/>
            <a:ext cx="1554480" cy="874675"/>
          </a:xfrm>
          <a:prstGeom prst="rect">
            <a:avLst/>
          </a:prstGeom>
        </p:spPr>
      </p:pic>
      <p:pic>
        <p:nvPicPr>
          <p:cNvPr id="9" name="Picture 8" descr="sleep（完全驶出，画面静止）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3840480"/>
            <a:ext cx="1554480" cy="874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0" y="59893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Turbo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59893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9893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Eco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59893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Sleep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Node14：盲超分退化感知防御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问题：未知退化输入可能触发“错误增强”，放大伪影</a:t>
            </a:r>
          </a:p>
          <a:p>
            <a:pPr>
              <a:defRPr sz="1300">
                <a:latin typeface="Songti SC"/>
              </a:defRPr>
            </a:pPr>
            <a:r>
              <a:t>做法：引入低开销退化感知并触发保守增强/策略回退</a:t>
            </a:r>
          </a:p>
          <a:p>
            <a:pPr>
              <a:defRPr sz="1300">
                <a:latin typeface="Songti SC"/>
              </a:defRPr>
            </a:pPr>
            <a:r>
              <a:t>价值：提升开放环境下的鲁棒性与输出稳定性</a:t>
            </a:r>
          </a:p>
          <a:p>
            <a:pPr>
              <a:defRPr sz="1300">
                <a:latin typeface="Songti SC"/>
              </a:defRPr>
            </a:pPr>
            <a:r>
              <a:t>结论：系统需要“安全增强路径”降低灾难性输出风险</a:t>
            </a:r>
          </a:p>
        </p:txBody>
      </p:sp>
      <p:pic>
        <p:nvPicPr>
          <p:cNvPr id="4" name="Picture 3" descr="17_Node14_BlindSR_Percep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680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图：Node14 盲超分感知防御分析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Node15：蒸馏与双模型路由扩展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目标：构建 Teacher-Student 双模型协同提升效率上限</a:t>
            </a:r>
          </a:p>
          <a:p>
            <a:pPr>
              <a:defRPr sz="1300">
                <a:latin typeface="Songti SC"/>
              </a:defRPr>
            </a:pPr>
            <a:r>
              <a:t>策略：低复杂度区域走轻量模型，高复杂度区域走教师模型</a:t>
            </a:r>
          </a:p>
          <a:p>
            <a:pPr>
              <a:defRPr sz="1300">
                <a:latin typeface="Songti SC"/>
              </a:defRPr>
            </a:pPr>
            <a:r>
              <a:t>价值：与现有双路由框架兼容，具备平滑演进条件</a:t>
            </a:r>
          </a:p>
          <a:p>
            <a:pPr>
              <a:defRPr sz="1300">
                <a:latin typeface="Songti SC"/>
              </a:defRPr>
            </a:pPr>
            <a:r>
              <a:t>结论：为后续“质量-性能”进一步折中提供实施路径</a:t>
            </a:r>
          </a:p>
        </p:txBody>
      </p:sp>
      <p:pic>
        <p:nvPicPr>
          <p:cNvPr id="4" name="Picture 3" descr="18_Node15_Distilla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2854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图：Node15 蒸馏扩展分析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总体结果汇总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质量：形成 33dB 级稳定重建能力（多场景验证）</a:t>
            </a:r>
          </a:p>
          <a:p>
            <a:pPr>
              <a:defRPr sz="1300">
                <a:latin typeface="Songti SC"/>
              </a:defRPr>
            </a:pPr>
            <a:r>
              <a:t>带宽：端云协同高保真档 84.98%，甜点位档 97.30% 节省</a:t>
            </a:r>
          </a:p>
          <a:p>
            <a:pPr>
              <a:defRPr sz="1300">
                <a:latin typeface="Songti SC"/>
              </a:defRPr>
            </a:pPr>
            <a:r>
              <a:t>能耗：Node13 动态调度节电 42.71%</a:t>
            </a:r>
          </a:p>
          <a:p>
            <a:pPr>
              <a:defRPr sz="1300">
                <a:latin typeface="Songti SC"/>
              </a:defRPr>
            </a:pPr>
            <a:r>
              <a:t>任务：闭环检测置信度提升，证明业务可用性增益</a:t>
            </a:r>
          </a:p>
          <a:p>
            <a:pPr>
              <a:defRPr sz="1300">
                <a:latin typeface="Songti SC"/>
              </a:defRPr>
            </a:pPr>
            <a:r>
              <a:t>工程：形成脚本、日志、图表、参数模板的证据闭环</a:t>
            </a:r>
          </a:p>
        </p:txBody>
      </p:sp>
      <p:pic>
        <p:nvPicPr>
          <p:cNvPr id="4" name="Picture 3" descr="10_Overall_Architectur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6309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图：系统能力雷达图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风险控制与工程保障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风险1：极限压缩导致语义崩塌 → 分级压缩+保真回退</a:t>
            </a:r>
          </a:p>
          <a:p>
            <a:pPr>
              <a:defRPr sz="1600">
                <a:latin typeface="Songti SC"/>
              </a:defRPr>
            </a:pPr>
            <a:r>
              <a:t>风险2：大分辨率触发显存峰值 → 动态分块+安全阈值</a:t>
            </a:r>
          </a:p>
          <a:p>
            <a:pPr>
              <a:defRPr sz="1600">
                <a:latin typeface="Songti SC"/>
              </a:defRPr>
            </a:pPr>
            <a:r>
              <a:t>风险3：并发输出乱序 → Reorder Buffer+超时策略</a:t>
            </a:r>
          </a:p>
          <a:p>
            <a:pPr>
              <a:defRPr sz="1600">
                <a:latin typeface="Songti SC"/>
              </a:defRPr>
            </a:pPr>
            <a:r>
              <a:t>风险4：长期运行功耗压力 → DVFS 动态调度+告警监控</a:t>
            </a:r>
          </a:p>
          <a:p>
            <a:pPr>
              <a:defRPr sz="1600">
                <a:latin typeface="Songti SC"/>
              </a:defRPr>
            </a:pPr>
            <a:r>
              <a:t>风险5：策略漂移 → 参数版本管理+灰度发布+快速回滚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结论与提交价值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项目完成了从模型部署到系统化协同优化的端侧超分闭环</a:t>
            </a:r>
          </a:p>
          <a:p>
            <a:pPr>
              <a:defRPr sz="1600">
                <a:latin typeface="Songti SC"/>
              </a:defRPr>
            </a:pPr>
            <a:r>
              <a:t>“每个节点可解释、每项收益可量化、每次实验可复现”</a:t>
            </a:r>
          </a:p>
          <a:p>
            <a:pPr>
              <a:defRPr sz="1600">
                <a:latin typeface="Songti SC"/>
              </a:defRPr>
            </a:pPr>
            <a:r>
              <a:t>提交材料完整：报告、图表证据、关键截图、复现实验资产</a:t>
            </a:r>
          </a:p>
          <a:p>
            <a:pPr>
              <a:defRPr sz="1600">
                <a:latin typeface="Songti SC"/>
              </a:defRPr>
            </a:pPr>
            <a:r>
              <a:t>后续可沿混合精度、蒸馏路由、服务化并发持续演进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原创性说明与差异化边界（评审要求6）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Songti SC"/>
              </a:defRPr>
            </a:pPr>
            <a:r>
              <a:t>本项目基于公开 SwinIR 能力，但提交核心是 BM1684X 约束下的系统级创新设计。</a:t>
            </a:r>
          </a:p>
          <a:p>
            <a:pPr>
              <a:defRPr sz="1500">
                <a:latin typeface="Songti SC"/>
              </a:defRPr>
            </a:pPr>
            <a:r>
              <a:t>差异化1：从单模型部署扩展为“语义/纹理路由+时序复用+DVFS”协同系统。</a:t>
            </a:r>
          </a:p>
          <a:p>
            <a:pPr>
              <a:defRPr sz="1500">
                <a:latin typeface="Songti SC"/>
              </a:defRPr>
            </a:pPr>
            <a:r>
              <a:t>差异化2：从静态图像扩展到视频连续流、端云协同与功耗感知调度。</a:t>
            </a:r>
          </a:p>
          <a:p>
            <a:pPr>
              <a:defRPr sz="1500">
                <a:latin typeface="Songti SC"/>
              </a:defRPr>
            </a:pPr>
            <a:r>
              <a:t>差异化3：从单指标扩展为质量、时延、带宽、功耗、业务指标多维闭环。</a:t>
            </a:r>
          </a:p>
          <a:p>
            <a:pPr>
              <a:defRPr sz="1500">
                <a:latin typeface="Songti SC"/>
              </a:defRPr>
            </a:pPr>
            <a:r>
              <a:t>差异化4：形成可追溯转换记录、版本管理与回滚机制，保障工程可复现。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