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handoutMasterIdLst>
    <p:handoutMasterId r:id="rId30"/>
  </p:handoutMasterIdLst>
  <p:sldIdLst>
    <p:sldId id="276" r:id="rId5"/>
    <p:sldId id="278" r:id="rId7"/>
    <p:sldId id="283" r:id="rId8"/>
    <p:sldId id="280" r:id="rId9"/>
    <p:sldId id="281" r:id="rId10"/>
    <p:sldId id="282" r:id="rId11"/>
    <p:sldId id="284" r:id="rId12"/>
    <p:sldId id="263" r:id="rId13"/>
    <p:sldId id="264" r:id="rId14"/>
    <p:sldId id="265" r:id="rId15"/>
    <p:sldId id="266" r:id="rId16"/>
    <p:sldId id="290" r:id="rId17"/>
    <p:sldId id="267" r:id="rId18"/>
    <p:sldId id="291" r:id="rId19"/>
    <p:sldId id="268" r:id="rId20"/>
    <p:sldId id="269" r:id="rId21"/>
    <p:sldId id="270" r:id="rId22"/>
    <p:sldId id="271" r:id="rId23"/>
    <p:sldId id="272" r:id="rId24"/>
    <p:sldId id="273" r:id="rId25"/>
    <p:sldId id="292" r:id="rId26"/>
    <p:sldId id="274" r:id="rId27"/>
    <p:sldId id="293" r:id="rId28"/>
    <p:sldId id="275" r:id="rId29"/>
  </p:sldIdLst>
  <p:sldSz cx="12191365" cy="6858000" type="screen4x3"/>
  <p:notesSz cx="6858000" cy="9144000"/>
  <p:embeddedFontLst>
    <p:embeddedFont>
      <p:font typeface="MiSans Heavy" panose="00000A00000000000000" charset="-122"/>
      <p:regular r:id="rId34"/>
    </p:embeddedFont>
    <p:embeddedFont>
      <p:font typeface="MiSans Light" charset="0"/>
      <p:regular r:id="rId35"/>
    </p:embeddedFont>
    <p:embeddedFont>
      <p:font typeface="方正博雅宋简体" panose="02000000000000000000" charset="-122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6033" y="3572"/>
            <a:ext cx="12179300" cy="6850856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04031" y="526901"/>
            <a:ext cx="1864321" cy="342543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ea typeface="+mn-ea"/>
                <a:cs typeface="MiSans Heavy" panose="00000A00000000000000" charset="-122"/>
                <a:sym typeface="MiSans Light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04031" y="869444"/>
            <a:ext cx="1864321" cy="10587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MiSans Heavy" panose="00000A00000000000000" charset="-122"/>
                <a:sym typeface="MiSans Light" charset="0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43360" y="6353301"/>
            <a:ext cx="2740343" cy="364745"/>
          </a:xfrm>
        </p:spPr>
        <p:txBody>
          <a:bodyPr/>
          <a:lstStyle>
            <a:lvl1pPr>
              <a:defRPr>
                <a:latin typeface="+mn-lt"/>
                <a:ea typeface="+mn-ea"/>
                <a:sym typeface="MiSans Light" charset="0"/>
              </a:defRPr>
            </a:lvl1pPr>
          </a:lstStyle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40426" y="6353301"/>
            <a:ext cx="4110514" cy="364745"/>
          </a:xfrm>
        </p:spPr>
        <p:txBody>
          <a:bodyPr/>
          <a:lstStyle>
            <a:lvl1pPr>
              <a:defRPr>
                <a:latin typeface="+mn-lt"/>
                <a:ea typeface="+mn-ea"/>
                <a:sym typeface="MiSans Light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07664" y="6353301"/>
            <a:ext cx="2740343" cy="364745"/>
          </a:xfrm>
        </p:spPr>
        <p:txBody>
          <a:bodyPr/>
          <a:lstStyle>
            <a:lvl1pPr>
              <a:defRPr>
                <a:latin typeface="+mn-lt"/>
                <a:ea typeface="+mn-ea"/>
                <a:sym typeface="MiSans Light" charset="0"/>
              </a:defRPr>
            </a:lvl1pPr>
          </a:lstStyle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@path_Ellipse 9 (Stroke)-2050&amp;12778"/>
          <p:cNvSpPr/>
          <p:nvPr userDrawn="1">
            <p:custDataLst>
              <p:tags r:id="rId2"/>
            </p:custDataLst>
          </p:nvPr>
        </p:nvSpPr>
        <p:spPr>
          <a:xfrm>
            <a:off x="9143524" y="179"/>
            <a:ext cx="3044793" cy="4014007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/>
            <a:endParaRPr lang="zh-CN" altLang="en-US"/>
          </a:p>
        </p:txBody>
      </p:sp>
      <p:sp>
        <p:nvSpPr>
          <p:cNvPr id="9" name="Ellipse 3 (Stroke)_#color-2050&amp;12715"/>
          <p:cNvSpPr/>
          <p:nvPr userDrawn="1">
            <p:custDataLst>
              <p:tags r:id="rId3"/>
            </p:custDataLst>
          </p:nvPr>
        </p:nvSpPr>
        <p:spPr>
          <a:xfrm>
            <a:off x="6184070" y="1938606"/>
            <a:ext cx="6007295" cy="4919216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4"/>
            </p:custDataLst>
          </p:nvPr>
        </p:nvSpPr>
        <p:spPr>
          <a:xfrm>
            <a:off x="5312387" y="4581084"/>
            <a:ext cx="630903" cy="1984145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5"/>
            </p:custDataLst>
          </p:nvPr>
        </p:nvSpPr>
        <p:spPr>
          <a:xfrm>
            <a:off x="6738777" y="1947749"/>
            <a:ext cx="5449540" cy="2194446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6"/>
            </p:custDataLst>
          </p:nvPr>
        </p:nvSpPr>
        <p:spPr>
          <a:xfrm>
            <a:off x="0" y="179"/>
            <a:ext cx="1746413" cy="165497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73080" y="1811104"/>
            <a:ext cx="5765500" cy="2076342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152" y="6356198"/>
            <a:ext cx="2743057" cy="365106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838156" y="4229058"/>
            <a:ext cx="2654797" cy="6063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282525" y="179"/>
            <a:ext cx="2304168" cy="6857643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179"/>
            <a:ext cx="4672341" cy="6857643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3959324"/>
            <a:ext cx="4580905" cy="2898497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47460" y="2772475"/>
            <a:ext cx="2657877" cy="1313144"/>
          </a:xfrm>
        </p:spPr>
        <p:txBody>
          <a:bodyPr wrap="square" anchor="ctr" anchorCtr="0">
            <a:normAutofit/>
          </a:bodyPr>
          <a:lstStyle>
            <a:lvl1pPr>
              <a:defRPr sz="48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524" y="179"/>
            <a:ext cx="12188317" cy="6857643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179"/>
            <a:ext cx="4142016" cy="4544331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1399138"/>
            <a:ext cx="6098730" cy="5458684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1399138"/>
            <a:ext cx="5540975" cy="2194446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627150" y="3136915"/>
            <a:ext cx="4726694" cy="1983002"/>
          </a:xfrm>
        </p:spPr>
        <p:txBody>
          <a:bodyPr wrap="square" anchor="t">
            <a:normAutofit/>
          </a:bodyPr>
          <a:lstStyle>
            <a:lvl1pPr algn="l">
              <a:defRPr sz="45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86385" y="3269658"/>
            <a:ext cx="5126469" cy="2759400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900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24" y="1301861"/>
            <a:ext cx="5323563" cy="487559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1879" y="1301861"/>
            <a:ext cx="5323563" cy="4875596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24" y="1301861"/>
            <a:ext cx="5323563" cy="411282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24" y="1875180"/>
            <a:ext cx="5323563" cy="4300052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1879" y="1301861"/>
            <a:ext cx="5323563" cy="411282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1879" y="1875180"/>
            <a:ext cx="5323563" cy="4300052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24" y="360205"/>
            <a:ext cx="10801422" cy="5817567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24" y="1301861"/>
            <a:ext cx="10798526" cy="405532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179"/>
            <a:ext cx="12188317" cy="6857643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890553" y="179"/>
            <a:ext cx="3300812" cy="3876854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9262390" y="1389994"/>
            <a:ext cx="2925928" cy="2477895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716210" y="3822172"/>
            <a:ext cx="1472107" cy="841204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3429000"/>
            <a:ext cx="3255094" cy="3428821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838156" y="457355"/>
            <a:ext cx="10514452" cy="299864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610152" y="6356198"/>
            <a:ext cx="2743057" cy="365106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838156" y="3908325"/>
            <a:ext cx="10514452" cy="1240495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1.jpeg"/><Relationship Id="rId2" Type="http://schemas.openxmlformats.org/officeDocument/2006/relationships/tags" Target="../tags/tag7.xml"/><Relationship Id="rId11" Type="http://schemas.openxmlformats.org/officeDocument/2006/relationships/theme" Target="../theme/theme2.xml"/><Relationship Id="rId10" Type="http://schemas.openxmlformats.org/officeDocument/2006/relationships/tags" Target="../tags/tag14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1" Type="http://schemas.openxmlformats.org/officeDocument/2006/relationships/theme" Target="../theme/theme3.xml"/><Relationship Id="rId20" Type="http://schemas.openxmlformats.org/officeDocument/2006/relationships/tags" Target="../tags/tag94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6033" y="3572"/>
            <a:ext cx="12179300" cy="6850856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583915" y="602387"/>
            <a:ext cx="107888" cy="43155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/>
            <a:endParaRPr lang="zh-CN" altLang="en-US">
              <a:latin typeface="MiSans Light" charset="0"/>
              <a:ea typeface="MiSans Light" charset="0"/>
              <a:sym typeface="MiSans Light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701268" y="6353301"/>
            <a:ext cx="2740343" cy="364745"/>
          </a:xfrm>
        </p:spPr>
        <p:txBody>
          <a:bodyPr/>
          <a:lstStyle>
            <a:lvl1pPr>
              <a:defRPr>
                <a:latin typeface="+mn-lt"/>
                <a:ea typeface="+mn-ea"/>
                <a:sym typeface="MiSans Light" charset="0"/>
              </a:defRPr>
            </a:lvl1pPr>
          </a:lstStyle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40426" y="6353301"/>
            <a:ext cx="4110514" cy="364745"/>
          </a:xfrm>
        </p:spPr>
        <p:txBody>
          <a:bodyPr/>
          <a:lstStyle>
            <a:lvl1pPr>
              <a:defRPr>
                <a:latin typeface="+mn-lt"/>
                <a:ea typeface="+mn-ea"/>
                <a:sym typeface="MiSans Light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750897" y="6353301"/>
            <a:ext cx="2740343" cy="364745"/>
          </a:xfrm>
        </p:spPr>
        <p:txBody>
          <a:bodyPr/>
          <a:lstStyle>
            <a:lvl1pPr>
              <a:defRPr>
                <a:latin typeface="+mn-lt"/>
                <a:ea typeface="+mn-ea"/>
                <a:sym typeface="MiSans Light" charset="0"/>
              </a:defRPr>
            </a:lvl1pPr>
          </a:lstStyle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701268" y="1303965"/>
            <a:ext cx="10788750" cy="48685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701268" y="363197"/>
            <a:ext cx="10788750" cy="71925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0"/>
            </p:custDataLst>
          </p:nvPr>
        </p:nvSpPr>
        <p:spPr>
          <a:xfrm>
            <a:off x="6033" y="3572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ym typeface="MiSans Light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  <a:sym typeface="MiSans Heavy" panose="00000A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lt"/>
          <a:ea typeface="+mn-ea"/>
          <a:cs typeface="+mn-cs"/>
          <a:sym typeface="MiSans Light" charset="0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  <a:sym typeface="MiSans Light" charset="0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  <a:sym typeface="MiSans Light" charset="0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  <a:sym typeface="MiSans Light" charset="0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  <a:sym typeface="MiSans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179"/>
            <a:ext cx="1746413" cy="1654978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/>
            <a:endParaRPr lang="zh-CN" altLang="en-US"/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1270663" y="5772663"/>
            <a:ext cx="918162" cy="1084524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1428770" y="5772663"/>
            <a:ext cx="760055" cy="607028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24" y="360160"/>
            <a:ext cx="10799438" cy="719963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24" y="1301860"/>
            <a:ext cx="10799438" cy="487337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24" y="6356198"/>
            <a:ext cx="2743057" cy="3651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390" y="6356198"/>
            <a:ext cx="4114586" cy="36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527" y="6356198"/>
            <a:ext cx="2743057" cy="36510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20.xml"/><Relationship Id="rId22" Type="http://schemas.openxmlformats.org/officeDocument/2006/relationships/tags" Target="../tags/tag123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5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tags" Target="../tags/tag12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6" Type="http://schemas.openxmlformats.org/officeDocument/2006/relationships/notesSlide" Target="../notesSlides/notesSlide4.xml"/><Relationship Id="rId35" Type="http://schemas.openxmlformats.org/officeDocument/2006/relationships/slideLayout" Target="../slideLayouts/slideLayout20.xml"/><Relationship Id="rId34" Type="http://schemas.openxmlformats.org/officeDocument/2006/relationships/tags" Target="../tags/tag164.xml"/><Relationship Id="rId33" Type="http://schemas.openxmlformats.org/officeDocument/2006/relationships/tags" Target="../tags/tag163.xml"/><Relationship Id="rId32" Type="http://schemas.openxmlformats.org/officeDocument/2006/relationships/image" Target="../media/image9.svg"/><Relationship Id="rId31" Type="http://schemas.openxmlformats.org/officeDocument/2006/relationships/image" Target="../media/image8.png"/><Relationship Id="rId30" Type="http://schemas.openxmlformats.org/officeDocument/2006/relationships/tags" Target="../tags/tag162.xml"/><Relationship Id="rId3" Type="http://schemas.openxmlformats.org/officeDocument/2006/relationships/tags" Target="../tags/tag141.xml"/><Relationship Id="rId29" Type="http://schemas.openxmlformats.org/officeDocument/2006/relationships/tags" Target="../tags/tag161.xml"/><Relationship Id="rId28" Type="http://schemas.openxmlformats.org/officeDocument/2006/relationships/image" Target="../media/image7.svg"/><Relationship Id="rId27" Type="http://schemas.openxmlformats.org/officeDocument/2006/relationships/image" Target="../media/image6.png"/><Relationship Id="rId26" Type="http://schemas.openxmlformats.org/officeDocument/2006/relationships/tags" Target="../tags/tag160.xml"/><Relationship Id="rId25" Type="http://schemas.openxmlformats.org/officeDocument/2006/relationships/image" Target="../media/image5.svg"/><Relationship Id="rId24" Type="http://schemas.openxmlformats.org/officeDocument/2006/relationships/image" Target="../media/image4.png"/><Relationship Id="rId23" Type="http://schemas.openxmlformats.org/officeDocument/2006/relationships/tags" Target="../tags/tag159.xml"/><Relationship Id="rId22" Type="http://schemas.openxmlformats.org/officeDocument/2006/relationships/image" Target="../media/image3.svg"/><Relationship Id="rId21" Type="http://schemas.openxmlformats.org/officeDocument/2006/relationships/image" Target="../media/image2.png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4" Type="http://schemas.openxmlformats.org/officeDocument/2006/relationships/notesSlide" Target="../notesSlides/notesSlide5.xml"/><Relationship Id="rId43" Type="http://schemas.openxmlformats.org/officeDocument/2006/relationships/slideLayout" Target="../slideLayouts/slideLayout20.xml"/><Relationship Id="rId42" Type="http://schemas.openxmlformats.org/officeDocument/2006/relationships/tags" Target="../tags/tag198.xml"/><Relationship Id="rId41" Type="http://schemas.openxmlformats.org/officeDocument/2006/relationships/tags" Target="../tags/tag197.xml"/><Relationship Id="rId40" Type="http://schemas.openxmlformats.org/officeDocument/2006/relationships/image" Target="../media/image17.svg"/><Relationship Id="rId4" Type="http://schemas.openxmlformats.org/officeDocument/2006/relationships/tags" Target="../tags/tag168.xml"/><Relationship Id="rId39" Type="http://schemas.openxmlformats.org/officeDocument/2006/relationships/image" Target="../media/image16.png"/><Relationship Id="rId38" Type="http://schemas.openxmlformats.org/officeDocument/2006/relationships/tags" Target="../tags/tag196.xml"/><Relationship Id="rId37" Type="http://schemas.openxmlformats.org/officeDocument/2006/relationships/image" Target="../media/image15.svg"/><Relationship Id="rId36" Type="http://schemas.openxmlformats.org/officeDocument/2006/relationships/image" Target="../media/image14.png"/><Relationship Id="rId35" Type="http://schemas.openxmlformats.org/officeDocument/2006/relationships/tags" Target="../tags/tag195.xml"/><Relationship Id="rId34" Type="http://schemas.openxmlformats.org/officeDocument/2006/relationships/image" Target="../media/image13.svg"/><Relationship Id="rId33" Type="http://schemas.openxmlformats.org/officeDocument/2006/relationships/image" Target="../media/image12.png"/><Relationship Id="rId32" Type="http://schemas.openxmlformats.org/officeDocument/2006/relationships/tags" Target="../tags/tag194.xml"/><Relationship Id="rId31" Type="http://schemas.openxmlformats.org/officeDocument/2006/relationships/image" Target="../media/image11.svg"/><Relationship Id="rId30" Type="http://schemas.openxmlformats.org/officeDocument/2006/relationships/image" Target="../media/image10.png"/><Relationship Id="rId3" Type="http://schemas.openxmlformats.org/officeDocument/2006/relationships/tags" Target="../tags/tag167.xml"/><Relationship Id="rId29" Type="http://schemas.openxmlformats.org/officeDocument/2006/relationships/tags" Target="../tags/tag193.xml"/><Relationship Id="rId28" Type="http://schemas.openxmlformats.org/officeDocument/2006/relationships/tags" Target="../tags/tag19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tags" Target="../tags/tag185.xml"/><Relationship Id="rId20" Type="http://schemas.openxmlformats.org/officeDocument/2006/relationships/tags" Target="../tags/tag184.xml"/><Relationship Id="rId2" Type="http://schemas.openxmlformats.org/officeDocument/2006/relationships/tags" Target="../tags/tag166.xml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tags" Target="../tags/tag16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7.xml"/><Relationship Id="rId8" Type="http://schemas.openxmlformats.org/officeDocument/2006/relationships/tags" Target="../tags/tag206.xml"/><Relationship Id="rId7" Type="http://schemas.openxmlformats.org/officeDocument/2006/relationships/tags" Target="../tags/tag205.xml"/><Relationship Id="rId6" Type="http://schemas.openxmlformats.org/officeDocument/2006/relationships/tags" Target="../tags/tag204.xml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9" Type="http://schemas.openxmlformats.org/officeDocument/2006/relationships/notesSlide" Target="../notesSlides/notesSlide6.xml"/><Relationship Id="rId28" Type="http://schemas.openxmlformats.org/officeDocument/2006/relationships/slideLayout" Target="../slideLayouts/slideLayout20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0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tags" Target="../tags/tag211.xml"/><Relationship Id="rId12" Type="http://schemas.openxmlformats.org/officeDocument/2006/relationships/tags" Target="../tags/tag210.xml"/><Relationship Id="rId11" Type="http://schemas.openxmlformats.org/officeDocument/2006/relationships/tags" Target="../tags/tag209.xml"/><Relationship Id="rId10" Type="http://schemas.openxmlformats.org/officeDocument/2006/relationships/tags" Target="../tags/tag208.xml"/><Relationship Id="rId1" Type="http://schemas.openxmlformats.org/officeDocument/2006/relationships/tags" Target="../tags/tag19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2" Type="http://schemas.openxmlformats.org/officeDocument/2006/relationships/notesSlide" Target="../notesSlides/notesSlide7.xml"/><Relationship Id="rId31" Type="http://schemas.openxmlformats.org/officeDocument/2006/relationships/slideLayout" Target="../slideLayouts/slideLayout20.xml"/><Relationship Id="rId30" Type="http://schemas.openxmlformats.org/officeDocument/2006/relationships/tags" Target="../tags/tag247.xml"/><Relationship Id="rId3" Type="http://schemas.openxmlformats.org/officeDocument/2006/relationships/tags" Target="../tags/tag228.xml"/><Relationship Id="rId29" Type="http://schemas.openxmlformats.org/officeDocument/2006/relationships/tags" Target="../tags/tag246.xml"/><Relationship Id="rId28" Type="http://schemas.openxmlformats.org/officeDocument/2006/relationships/image" Target="../media/image24.svg"/><Relationship Id="rId27" Type="http://schemas.openxmlformats.org/officeDocument/2006/relationships/image" Target="../media/image23.png"/><Relationship Id="rId26" Type="http://schemas.openxmlformats.org/officeDocument/2006/relationships/tags" Target="../tags/tag245.xml"/><Relationship Id="rId25" Type="http://schemas.openxmlformats.org/officeDocument/2006/relationships/image" Target="../media/image22.svg"/><Relationship Id="rId24" Type="http://schemas.openxmlformats.org/officeDocument/2006/relationships/image" Target="../media/image2.png"/><Relationship Id="rId23" Type="http://schemas.openxmlformats.org/officeDocument/2006/relationships/tags" Target="../tags/tag244.xml"/><Relationship Id="rId22" Type="http://schemas.openxmlformats.org/officeDocument/2006/relationships/image" Target="../media/image21.svg"/><Relationship Id="rId21" Type="http://schemas.openxmlformats.org/officeDocument/2006/relationships/image" Target="../media/image20.png"/><Relationship Id="rId20" Type="http://schemas.openxmlformats.org/officeDocument/2006/relationships/tags" Target="../tags/tag243.xml"/><Relationship Id="rId2" Type="http://schemas.openxmlformats.org/officeDocument/2006/relationships/tags" Target="../tags/tag227.xml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tags" Target="../tags/tag242.xml"/><Relationship Id="rId16" Type="http://schemas.openxmlformats.org/officeDocument/2006/relationships/tags" Target="../tags/tag241.xml"/><Relationship Id="rId15" Type="http://schemas.openxmlformats.org/officeDocument/2006/relationships/tags" Target="../tags/tag240.xml"/><Relationship Id="rId14" Type="http://schemas.openxmlformats.org/officeDocument/2006/relationships/tags" Target="../tags/tag239.xml"/><Relationship Id="rId13" Type="http://schemas.openxmlformats.org/officeDocument/2006/relationships/tags" Target="../tags/tag238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tags" Target="../tags/tag22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252.xml"/><Relationship Id="rId5" Type="http://schemas.openxmlformats.org/officeDocument/2006/relationships/tags" Target="../tags/tag251.xml"/><Relationship Id="rId4" Type="http://schemas.openxmlformats.org/officeDocument/2006/relationships/image" Target="../media/image25.png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image" Target="../media/image26.png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image" Target="../media/image27.png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4" Type="http://schemas.openxmlformats.org/officeDocument/2006/relationships/image" Target="../media/image28.png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tags" Target="../tags/tag26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270.xml"/><Relationship Id="rId3" Type="http://schemas.openxmlformats.org/officeDocument/2006/relationships/image" Target="../media/image29.png"/><Relationship Id="rId2" Type="http://schemas.openxmlformats.org/officeDocument/2006/relationships/tags" Target="../tags/tag269.xml"/><Relationship Id="rId1" Type="http://schemas.openxmlformats.org/officeDocument/2006/relationships/tags" Target="../tags/tag26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image" Target="../media/image31.png"/><Relationship Id="rId5" Type="http://schemas.openxmlformats.org/officeDocument/2006/relationships/tags" Target="../tags/tag274.xml"/><Relationship Id="rId4" Type="http://schemas.openxmlformats.org/officeDocument/2006/relationships/image" Target="../media/image30.png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27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280.xml"/><Relationship Id="rId3" Type="http://schemas.openxmlformats.org/officeDocument/2006/relationships/image" Target="../media/image32.png"/><Relationship Id="rId2" Type="http://schemas.openxmlformats.org/officeDocument/2006/relationships/tags" Target="../tags/tag279.xml"/><Relationship Id="rId1" Type="http://schemas.openxmlformats.org/officeDocument/2006/relationships/tags" Target="../tags/tag27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image" Target="../media/image34.png"/><Relationship Id="rId5" Type="http://schemas.openxmlformats.org/officeDocument/2006/relationships/tags" Target="../tags/tag284.xml"/><Relationship Id="rId4" Type="http://schemas.openxmlformats.org/officeDocument/2006/relationships/image" Target="../media/image33.png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28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image" Target="../media/image36.png"/><Relationship Id="rId5" Type="http://schemas.openxmlformats.org/officeDocument/2006/relationships/tags" Target="../tags/tag291.xml"/><Relationship Id="rId4" Type="http://schemas.openxmlformats.org/officeDocument/2006/relationships/image" Target="../media/image35.png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288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299.xml"/><Relationship Id="rId5" Type="http://schemas.openxmlformats.org/officeDocument/2006/relationships/tags" Target="../tags/tag298.xml"/><Relationship Id="rId4" Type="http://schemas.openxmlformats.org/officeDocument/2006/relationships/image" Target="../media/image37.png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" Type="http://schemas.openxmlformats.org/officeDocument/2006/relationships/tags" Target="../tags/tag295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304.xml"/><Relationship Id="rId5" Type="http://schemas.openxmlformats.org/officeDocument/2006/relationships/tags" Target="../tags/tag303.xml"/><Relationship Id="rId4" Type="http://schemas.openxmlformats.org/officeDocument/2006/relationships/image" Target="../media/image38.png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image" Target="../media/image39.png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image" Target="../media/image41.png"/><Relationship Id="rId5" Type="http://schemas.openxmlformats.org/officeDocument/2006/relationships/tags" Target="../tags/tag313.xml"/><Relationship Id="rId4" Type="http://schemas.openxmlformats.org/officeDocument/2006/relationships/image" Target="../media/image40.png"/><Relationship Id="rId3" Type="http://schemas.openxmlformats.org/officeDocument/2006/relationships/tags" Target="../tags/tag312.xml"/><Relationship Id="rId2" Type="http://schemas.openxmlformats.org/officeDocument/2006/relationships/tags" Target="../tags/tag311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31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image" Target="../media/image42.png"/><Relationship Id="rId1" Type="http://schemas.openxmlformats.org/officeDocument/2006/relationships/tags" Target="../tags/tag31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image" Target="../media/image45.png"/><Relationship Id="rId7" Type="http://schemas.openxmlformats.org/officeDocument/2006/relationships/tags" Target="../tags/tag324.xml"/><Relationship Id="rId6" Type="http://schemas.openxmlformats.org/officeDocument/2006/relationships/image" Target="../media/image44.png"/><Relationship Id="rId5" Type="http://schemas.openxmlformats.org/officeDocument/2006/relationships/tags" Target="../tags/tag323.xml"/><Relationship Id="rId4" Type="http://schemas.openxmlformats.org/officeDocument/2006/relationships/image" Target="../media/image43.png"/><Relationship Id="rId3" Type="http://schemas.openxmlformats.org/officeDocument/2006/relationships/tags" Target="../tags/tag322.xml"/><Relationship Id="rId25" Type="http://schemas.openxmlformats.org/officeDocument/2006/relationships/slideLayout" Target="../slideLayouts/slideLayout20.xml"/><Relationship Id="rId24" Type="http://schemas.openxmlformats.org/officeDocument/2006/relationships/tags" Target="../tags/tag336.xml"/><Relationship Id="rId23" Type="http://schemas.openxmlformats.org/officeDocument/2006/relationships/tags" Target="../tags/tag335.xml"/><Relationship Id="rId22" Type="http://schemas.openxmlformats.org/officeDocument/2006/relationships/tags" Target="../tags/tag334.xml"/><Relationship Id="rId21" Type="http://schemas.openxmlformats.org/officeDocument/2006/relationships/tags" Target="../tags/tag333.xml"/><Relationship Id="rId20" Type="http://schemas.openxmlformats.org/officeDocument/2006/relationships/tags" Target="../tags/tag332.xml"/><Relationship Id="rId2" Type="http://schemas.openxmlformats.org/officeDocument/2006/relationships/tags" Target="../tags/tag321.xml"/><Relationship Id="rId19" Type="http://schemas.openxmlformats.org/officeDocument/2006/relationships/image" Target="../media/image49.png"/><Relationship Id="rId18" Type="http://schemas.openxmlformats.org/officeDocument/2006/relationships/tags" Target="../tags/tag331.xml"/><Relationship Id="rId17" Type="http://schemas.openxmlformats.org/officeDocument/2006/relationships/image" Target="../media/image48.png"/><Relationship Id="rId16" Type="http://schemas.openxmlformats.org/officeDocument/2006/relationships/tags" Target="../tags/tag330.xml"/><Relationship Id="rId15" Type="http://schemas.openxmlformats.org/officeDocument/2006/relationships/image" Target="../media/image47.png"/><Relationship Id="rId14" Type="http://schemas.openxmlformats.org/officeDocument/2006/relationships/tags" Target="../tags/tag329.xml"/><Relationship Id="rId13" Type="http://schemas.openxmlformats.org/officeDocument/2006/relationships/image" Target="../media/image46.png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tags" Target="../tags/tag320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" Type="http://schemas.openxmlformats.org/officeDocument/2006/relationships/image" Target="../media/image50.png"/><Relationship Id="rId1" Type="http://schemas.openxmlformats.org/officeDocument/2006/relationships/tags" Target="../tags/tag337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0.xml"/><Relationship Id="rId6" Type="http://schemas.openxmlformats.org/officeDocument/2006/relationships/tags" Target="../tags/tag344.xml"/><Relationship Id="rId5" Type="http://schemas.openxmlformats.org/officeDocument/2006/relationships/tags" Target="../tags/tag343.xml"/><Relationship Id="rId4" Type="http://schemas.openxmlformats.org/officeDocument/2006/relationships/image" Target="../media/image51.png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5"/>
          <p:cNvSpPr txBox="1"/>
          <p:nvPr>
            <p:custDataLst>
              <p:tags r:id="rId1"/>
            </p:custDataLst>
          </p:nvPr>
        </p:nvSpPr>
        <p:spPr>
          <a:xfrm>
            <a:off x="909638" y="4927600"/>
            <a:ext cx="7454265" cy="13220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defTabSz="457200">
              <a:defRPr sz="20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第</a:t>
            </a:r>
            <a:r>
              <a:rPr lang="zh-CN">
                <a:solidFill>
                  <a:schemeClr val="tx1"/>
                </a:solidFill>
                <a:latin typeface="+mn-lt"/>
              </a:rPr>
              <a:t>十</a:t>
            </a:r>
            <a:r>
              <a:rPr>
                <a:solidFill>
                  <a:schemeClr val="tx1"/>
                </a:solidFill>
                <a:latin typeface="+mn-lt"/>
              </a:rPr>
              <a:t>届全国大学生集成电路创新创业大赛（算能杯）</a:t>
            </a:r>
            <a:endParaRPr>
              <a:solidFill>
                <a:schemeClr val="tx1"/>
              </a:solidFill>
              <a:latin typeface="+mn-lt"/>
            </a:endParaRPr>
          </a:p>
          <a:p>
            <a:pPr defTabSz="457200">
              <a:defRPr sz="20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队伍编号：CICC1008267</a:t>
            </a:r>
            <a:endParaRPr>
              <a:solidFill>
                <a:schemeClr val="tx1"/>
              </a:solidFill>
              <a:latin typeface="+mn-lt"/>
            </a:endParaRPr>
          </a:p>
          <a:p>
            <a:pPr defTabSz="457200">
              <a:defRPr sz="20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队伍名称：啊对的对的对吗不对不队</a:t>
            </a:r>
            <a:endParaRPr>
              <a:solidFill>
                <a:schemeClr val="tx1"/>
              </a:solidFill>
              <a:latin typeface="+mn-lt"/>
            </a:endParaRPr>
          </a:p>
          <a:p>
            <a:pPr defTabSz="457200">
              <a:defRPr sz="20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作品名称：基于 AirBox（BM1684X）的 SwinIR 端侧超分辨率系统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881156" y="4119496"/>
            <a:ext cx="8426979" cy="41292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sz="1900"/>
              <a:t>语义路由、时序复用与能效协同优化</a:t>
            </a:r>
            <a:endParaRPr lang="en-US" sz="1900"/>
          </a:p>
        </p:txBody>
      </p:sp>
      <p:sp>
        <p:nvSpPr>
          <p:cNvPr id="17" name="日期时间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65891" y="4646768"/>
            <a:ext cx="2023047" cy="329211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0" indent="0" algn="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1400" u="none" strike="noStrike" kern="1200" cap="none" spc="20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20XX/01/01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年份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881156" y="1817340"/>
            <a:ext cx="8426979" cy="96050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90204" pitchFamily="34" charset="0"/>
              <a:buNone/>
              <a:defRPr lang="zh-CN" altLang="en-US" sz="6000" b="1" kern="12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9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accent1"/>
                </a:solidFill>
              </a:rPr>
              <a:t>20XX</a:t>
            </a:r>
            <a:endParaRPr lang="en-US" altLang="en-US">
              <a:solidFill>
                <a:schemeClr val="accent1"/>
              </a:solidFill>
            </a:endParaRPr>
          </a:p>
        </p:txBody>
      </p:sp>
      <p:sp>
        <p:nvSpPr>
          <p:cNvPr id="13" name="标题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/>
              <a:t>面向边缘智能的 SwinIR 端侧超分系统</a:t>
            </a:r>
            <a:endParaRPr lang="en-US" altLang="en-US"/>
          </a:p>
        </p:txBody>
      </p:sp>
      <p:sp>
        <p:nvSpPr>
          <p:cNvPr id="14" name="署名"/>
          <p:cNvSpPr>
            <a:spLocks noGrp="1"/>
          </p:cNvSpPr>
          <p:nvPr>
            <p:ph type="body" sz="quarter" idx="17"/>
            <p:custDataLst>
              <p:tags r:id="rId6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en-US" sz="2400"/>
              <a:t>汇报人：WPS</a:t>
            </a:r>
            <a:endParaRPr lang="en-US" altLang="en-US" sz="2400"/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3"/>
          <p:cNvSpPr/>
          <p:nvPr>
            <p:custDataLst>
              <p:tags r:id="rId1"/>
            </p:custDataLst>
          </p:nvPr>
        </p:nvSpPr>
        <p:spPr>
          <a:xfrm>
            <a:off x="701308" y="1891182"/>
            <a:ext cx="2899812" cy="3928167"/>
          </a:xfrm>
          <a:prstGeom prst="roundRect">
            <a:avLst>
              <a:gd name="adj" fmla="val 5500"/>
            </a:avLst>
          </a:prstGeom>
          <a:gradFill flip="none" rotWithShape="1"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90000"/>
                  <a:alpha val="100000"/>
                </a:schemeClr>
              </a:gs>
            </a:gsLst>
            <a:lin ang="21594000" scaled="0"/>
            <a:tileRect/>
          </a:gra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6" name="矩形 1"/>
          <p:cNvSpPr/>
          <p:nvPr>
            <p:custDataLst>
              <p:tags r:id="rId2"/>
            </p:custDataLst>
          </p:nvPr>
        </p:nvSpPr>
        <p:spPr>
          <a:xfrm>
            <a:off x="1123140" y="4075194"/>
            <a:ext cx="2055712" cy="1564472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完成</a:t>
            </a:r>
            <a:r>
              <a:rPr lang="en-US" altLang="zh-CN" sz="16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 SwinIR </a:t>
            </a:r>
            <a:r>
              <a:rPr lang="zh-CN" altLang="en-US" sz="16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在</a:t>
            </a:r>
            <a:r>
              <a:rPr lang="en-US" altLang="zh-CN" sz="16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 AirBox </a:t>
            </a:r>
            <a:r>
              <a:rPr lang="zh-CN" altLang="en-US" sz="1600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端侧的系统化落地与多节点优化</a:t>
            </a:r>
            <a:endParaRPr lang="zh-CN" altLang="en-US" sz="1600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3"/>
          <p:cNvSpPr/>
          <p:nvPr>
            <p:custDataLst>
              <p:tags r:id="rId3"/>
            </p:custDataLst>
          </p:nvPr>
        </p:nvSpPr>
        <p:spPr>
          <a:xfrm>
            <a:off x="1123140" y="3156678"/>
            <a:ext cx="2055712" cy="72146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dirty="0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主要工作</a:t>
            </a:r>
            <a:endParaRPr lang="zh-CN" altLang="en-US" sz="1900" b="1" dirty="0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2" name="直接连接符 5"/>
          <p:cNvCxnSpPr/>
          <p:nvPr>
            <p:custDataLst>
              <p:tags r:id="rId4"/>
            </p:custDataLst>
          </p:nvPr>
        </p:nvCxnSpPr>
        <p:spPr>
          <a:xfrm>
            <a:off x="1105379" y="3084998"/>
            <a:ext cx="227917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8"/>
          <p:cNvSpPr/>
          <p:nvPr>
            <p:custDataLst>
              <p:tags r:id="rId5"/>
            </p:custDataLst>
          </p:nvPr>
        </p:nvSpPr>
        <p:spPr>
          <a:xfrm>
            <a:off x="2468562" y="2097975"/>
            <a:ext cx="710455" cy="54028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01</a:t>
            </a:r>
            <a:endParaRPr lang="en-US" altLang="zh-CN" sz="3200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圆角矩形 9"/>
          <p:cNvSpPr/>
          <p:nvPr>
            <p:custDataLst>
              <p:tags r:id="rId6"/>
            </p:custDataLst>
          </p:nvPr>
        </p:nvSpPr>
        <p:spPr>
          <a:xfrm>
            <a:off x="3848238" y="2231185"/>
            <a:ext cx="2382644" cy="324898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1" name="矩形 19"/>
          <p:cNvSpPr/>
          <p:nvPr>
            <p:custDataLst>
              <p:tags r:id="rId7"/>
            </p:custDataLst>
          </p:nvPr>
        </p:nvSpPr>
        <p:spPr>
          <a:xfrm>
            <a:off x="5210153" y="2391672"/>
            <a:ext cx="710455" cy="47277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BFBFBF"/>
                </a:solidFill>
                <a:latin typeface="+mn-ea"/>
                <a:cs typeface="+mn-ea"/>
              </a:rPr>
              <a:t>02</a:t>
            </a:r>
            <a:endParaRPr lang="en-US" altLang="zh-CN" sz="2800">
              <a:solidFill>
                <a:srgbClr val="BFBFBF"/>
              </a:solidFill>
              <a:latin typeface="+mn-ea"/>
              <a:cs typeface="+mn-ea"/>
            </a:endParaRPr>
          </a:p>
        </p:txBody>
      </p:sp>
      <p:cxnSp>
        <p:nvCxnSpPr>
          <p:cNvPr id="22" name="直接连接符 12"/>
          <p:cNvCxnSpPr/>
          <p:nvPr>
            <p:custDataLst>
              <p:tags r:id="rId8"/>
            </p:custDataLst>
          </p:nvPr>
        </p:nvCxnSpPr>
        <p:spPr>
          <a:xfrm>
            <a:off x="4220592" y="2961303"/>
            <a:ext cx="227917" cy="0"/>
          </a:xfrm>
          <a:prstGeom prst="line">
            <a:avLst/>
          </a:prstGeom>
          <a:ln w="2857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14"/>
          <p:cNvSpPr/>
          <p:nvPr>
            <p:custDataLst>
              <p:tags r:id="rId9"/>
            </p:custDataLst>
          </p:nvPr>
        </p:nvSpPr>
        <p:spPr>
          <a:xfrm>
            <a:off x="6477552" y="2231185"/>
            <a:ext cx="2382644" cy="324898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4" name="矩形 27"/>
          <p:cNvSpPr/>
          <p:nvPr>
            <p:custDataLst>
              <p:tags r:id="rId10"/>
            </p:custDataLst>
          </p:nvPr>
        </p:nvSpPr>
        <p:spPr>
          <a:xfrm>
            <a:off x="7840101" y="2391672"/>
            <a:ext cx="710455" cy="47277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BFBFBF"/>
                </a:solidFill>
                <a:latin typeface="+mn-ea"/>
                <a:cs typeface="+mn-ea"/>
              </a:rPr>
              <a:t>03</a:t>
            </a:r>
            <a:endParaRPr lang="en-US" altLang="zh-CN" sz="2800">
              <a:solidFill>
                <a:srgbClr val="BFBFBF"/>
              </a:solidFill>
              <a:latin typeface="+mn-ea"/>
              <a:cs typeface="+mn-ea"/>
            </a:endParaRPr>
          </a:p>
        </p:txBody>
      </p:sp>
      <p:cxnSp>
        <p:nvCxnSpPr>
          <p:cNvPr id="25" name="直接连接符 19"/>
          <p:cNvCxnSpPr/>
          <p:nvPr>
            <p:custDataLst>
              <p:tags r:id="rId11"/>
            </p:custDataLst>
          </p:nvPr>
        </p:nvCxnSpPr>
        <p:spPr>
          <a:xfrm>
            <a:off x="6776958" y="2961303"/>
            <a:ext cx="227917" cy="0"/>
          </a:xfrm>
          <a:prstGeom prst="line">
            <a:avLst/>
          </a:prstGeom>
          <a:ln w="2857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圆角矩形 19"/>
          <p:cNvSpPr/>
          <p:nvPr>
            <p:custDataLst>
              <p:tags r:id="rId12"/>
            </p:custDataLst>
          </p:nvPr>
        </p:nvSpPr>
        <p:spPr>
          <a:xfrm>
            <a:off x="9107500" y="2231185"/>
            <a:ext cx="2382644" cy="324898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3175" cap="flat" cmpd="sng" algn="ctr">
            <a:solidFill>
              <a:schemeClr val="tx1">
                <a:lumMod val="100000"/>
                <a:alpha val="1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190500" dist="38100" dir="2700000" algn="tl" rotWithShape="0">
              <a:schemeClr val="tx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7" name="矩形 28"/>
          <p:cNvSpPr/>
          <p:nvPr>
            <p:custDataLst>
              <p:tags r:id="rId13"/>
            </p:custDataLst>
          </p:nvPr>
        </p:nvSpPr>
        <p:spPr>
          <a:xfrm>
            <a:off x="10469415" y="2391672"/>
            <a:ext cx="710455" cy="47277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rgbClr val="BFBFBF"/>
                </a:solidFill>
                <a:latin typeface="+mn-ea"/>
                <a:cs typeface="+mn-ea"/>
              </a:rPr>
              <a:t>04</a:t>
            </a:r>
            <a:endParaRPr lang="en-US" altLang="zh-CN" sz="2800">
              <a:solidFill>
                <a:srgbClr val="BFBFBF"/>
              </a:solidFill>
              <a:latin typeface="+mn-ea"/>
              <a:cs typeface="+mn-ea"/>
            </a:endParaRPr>
          </a:p>
        </p:txBody>
      </p:sp>
      <p:cxnSp>
        <p:nvCxnSpPr>
          <p:cNvPr id="36" name="直接连接符 25"/>
          <p:cNvCxnSpPr/>
          <p:nvPr>
            <p:custDataLst>
              <p:tags r:id="rId14"/>
            </p:custDataLst>
          </p:nvPr>
        </p:nvCxnSpPr>
        <p:spPr>
          <a:xfrm>
            <a:off x="9439891" y="2961303"/>
            <a:ext cx="227917" cy="0"/>
          </a:xfrm>
          <a:prstGeom prst="line">
            <a:avLst/>
          </a:prstGeom>
          <a:ln w="28575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29"/>
          <p:cNvSpPr/>
          <p:nvPr>
            <p:custDataLst>
              <p:tags r:id="rId15"/>
            </p:custDataLst>
          </p:nvPr>
        </p:nvSpPr>
        <p:spPr>
          <a:xfrm>
            <a:off x="4158427" y="3691422"/>
            <a:ext cx="1762531" cy="1646147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语义</a:t>
            </a:r>
            <a:r>
              <a:rPr lang="en-US" altLang="zh-CN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+</a:t>
            </a:r>
            <a:r>
              <a:rPr lang="zh-CN" alt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纹理双路由、视频时序复用、端云协同、</a:t>
            </a:r>
            <a:r>
              <a:rPr lang="en-US" altLang="zh-CN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DVFS </a:t>
            </a:r>
            <a:r>
              <a:rPr lang="zh-CN" altLang="en-US" sz="1600" dirty="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动态能效调度</a:t>
            </a:r>
            <a:endParaRPr lang="zh-CN" altLang="en-US" sz="1600" dirty="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8" name="矩形 30"/>
          <p:cNvSpPr/>
          <p:nvPr>
            <p:custDataLst>
              <p:tags r:id="rId16"/>
            </p:custDataLst>
          </p:nvPr>
        </p:nvSpPr>
        <p:spPr>
          <a:xfrm>
            <a:off x="4158427" y="3156678"/>
            <a:ext cx="1762531" cy="47277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dirty="0">
                <a:solidFill>
                  <a:schemeClr val="accent2"/>
                </a:solidFill>
                <a:latin typeface="+mn-ea"/>
                <a:cs typeface="+mn-ea"/>
              </a:rPr>
              <a:t>创新点</a:t>
            </a:r>
            <a:endParaRPr lang="zh-CN" altLang="en-US" sz="1900" b="1" dirty="0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39" name="矩形 31"/>
          <p:cNvSpPr/>
          <p:nvPr>
            <p:custDataLst>
              <p:tags r:id="rId17"/>
            </p:custDataLst>
          </p:nvPr>
        </p:nvSpPr>
        <p:spPr>
          <a:xfrm>
            <a:off x="6787741" y="3691422"/>
            <a:ext cx="1762532" cy="1646147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重建质量稳定、视频吞吐提升、带宽显著节省、功耗下降</a:t>
            </a:r>
            <a:endParaRPr lang="zh-CN" altLang="en-US" sz="160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0" name="矩形 32"/>
          <p:cNvSpPr/>
          <p:nvPr>
            <p:custDataLst>
              <p:tags r:id="rId18"/>
            </p:custDataLst>
          </p:nvPr>
        </p:nvSpPr>
        <p:spPr>
          <a:xfrm>
            <a:off x="6787741" y="3156678"/>
            <a:ext cx="1762532" cy="44593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 dirty="0">
                <a:solidFill>
                  <a:schemeClr val="accent3"/>
                </a:solidFill>
                <a:latin typeface="+mn-ea"/>
                <a:cs typeface="+mn-ea"/>
              </a:rPr>
              <a:t>关键结果</a:t>
            </a:r>
            <a:endParaRPr lang="zh-CN" altLang="en-US" sz="1900" b="1" dirty="0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41" name="矩形 33"/>
          <p:cNvSpPr/>
          <p:nvPr>
            <p:custDataLst>
              <p:tags r:id="rId19"/>
            </p:custDataLst>
          </p:nvPr>
        </p:nvSpPr>
        <p:spPr>
          <a:xfrm>
            <a:off x="9417689" y="3691422"/>
            <a:ext cx="1762531" cy="1646147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dk1">
                    <a:lumMod val="80000"/>
                    <a:lumOff val="20000"/>
                  </a:schemeClr>
                </a:solidFill>
                <a:latin typeface="+mn-ea"/>
                <a:cs typeface="+mn-ea"/>
              </a:rPr>
              <a:t>形成可复现、可扩展、可工程化部署的端侧超分系统方案</a:t>
            </a:r>
            <a:endParaRPr lang="zh-CN" altLang="en-US" sz="1600">
              <a:solidFill>
                <a:schemeClr val="dk1">
                  <a:lumMod val="80000"/>
                  <a:lumOff val="2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2" name="矩形 34"/>
          <p:cNvSpPr/>
          <p:nvPr>
            <p:custDataLst>
              <p:tags r:id="rId20"/>
            </p:custDataLst>
          </p:nvPr>
        </p:nvSpPr>
        <p:spPr>
          <a:xfrm>
            <a:off x="9417689" y="3156678"/>
            <a:ext cx="1762531" cy="44593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zh-CN" altLang="en-US" sz="1900" b="1">
                <a:solidFill>
                  <a:schemeClr val="accent4"/>
                </a:solidFill>
                <a:latin typeface="+mn-ea"/>
                <a:cs typeface="+mn-ea"/>
              </a:rPr>
              <a:t>结论</a:t>
            </a:r>
            <a:endParaRPr lang="zh-CN" altLang="en-US" sz="1900" b="1">
              <a:solidFill>
                <a:schemeClr val="accent4"/>
              </a:solidFill>
              <a:latin typeface="+mn-ea"/>
              <a:cs typeface="+mn-ea"/>
            </a:endParaRPr>
          </a:p>
        </p:txBody>
      </p:sp>
      <p:sp>
        <p:nvSpPr>
          <p:cNvPr id="2" name="标题 2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701308" y="397566"/>
            <a:ext cx="10788750" cy="79117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重要内容预览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占位符 4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804031" y="526901"/>
            <a:ext cx="1864321" cy="342543"/>
          </a:xfrm>
        </p:spPr>
        <p:txBody>
          <a:bodyPr/>
          <a:lstStyle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0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4800"/>
              <a:t>目录</a:t>
            </a:r>
            <a:endParaRPr altLang="en-US" sz="4800"/>
          </a:p>
        </p:txBody>
      </p:sp>
      <p:sp>
        <p:nvSpPr>
          <p:cNvPr id="31" name="项标题"/>
          <p:cNvSpPr txBox="1"/>
          <p:nvPr>
            <p:custDataLst>
              <p:tags r:id="rId3"/>
            </p:custDataLst>
          </p:nvPr>
        </p:nvSpPr>
        <p:spPr>
          <a:xfrm>
            <a:off x="7173729" y="1070320"/>
            <a:ext cx="3673996" cy="50397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MiSans Light" charset="0"/>
              </a:rPr>
              <a:t>项目背景与任务定义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MiSans Light" charset="0"/>
            </a:endParaRPr>
          </a:p>
        </p:txBody>
      </p:sp>
      <p:sp>
        <p:nvSpPr>
          <p:cNvPr id="32" name="@mix!m0_序号_03-2050-12356"/>
          <p:cNvSpPr/>
          <p:nvPr>
            <p:custDataLst>
              <p:tags r:id="rId4"/>
            </p:custDataLst>
          </p:nvPr>
        </p:nvSpPr>
        <p:spPr>
          <a:xfrm>
            <a:off x="6885200" y="3813917"/>
            <a:ext cx="603473" cy="60347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lvl="0" algn="ctr" defTabSz="914400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03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3" name="Ellipse 70_#color-2050&amp;12709"/>
          <p:cNvSpPr/>
          <p:nvPr>
            <p:custDataLst>
              <p:tags r:id="rId5"/>
            </p:custDataLst>
          </p:nvPr>
        </p:nvSpPr>
        <p:spPr>
          <a:xfrm>
            <a:off x="6812052" y="3740769"/>
            <a:ext cx="758912" cy="758912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/>
            <a:endParaRPr lang="zh-CN" altLang="en-US"/>
          </a:p>
        </p:txBody>
      </p:sp>
      <p:sp>
        <p:nvSpPr>
          <p:cNvPr id="34" name="Ellipse 66_#color-2050&amp;12710"/>
          <p:cNvSpPr/>
          <p:nvPr>
            <p:custDataLst>
              <p:tags r:id="rId6"/>
            </p:custDataLst>
          </p:nvPr>
        </p:nvSpPr>
        <p:spPr>
          <a:xfrm>
            <a:off x="6290871" y="942850"/>
            <a:ext cx="758912" cy="758912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/>
            <a:endParaRPr lang="zh-CN" altLang="en-US"/>
          </a:p>
        </p:txBody>
      </p:sp>
      <p:sp>
        <p:nvSpPr>
          <p:cNvPr id="35" name="Ellipse 68_#color-2050&amp;12711"/>
          <p:cNvSpPr/>
          <p:nvPr>
            <p:custDataLst>
              <p:tags r:id="rId7"/>
            </p:custDataLst>
          </p:nvPr>
        </p:nvSpPr>
        <p:spPr>
          <a:xfrm>
            <a:off x="6812052" y="2341810"/>
            <a:ext cx="758912" cy="758912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/>
            <a:endParaRPr lang="zh-CN" altLang="en-US"/>
          </a:p>
        </p:txBody>
      </p:sp>
      <p:sp>
        <p:nvSpPr>
          <p:cNvPr id="36" name="Ellipse 72_#color-2050&amp;12712"/>
          <p:cNvSpPr/>
          <p:nvPr>
            <p:custDataLst>
              <p:tags r:id="rId8"/>
            </p:custDataLst>
          </p:nvPr>
        </p:nvSpPr>
        <p:spPr>
          <a:xfrm>
            <a:off x="6290871" y="5139728"/>
            <a:ext cx="758912" cy="758912"/>
          </a:xfrm>
          <a:custGeom>
            <a:avLst/>
            <a:gdLst/>
            <a:ahLst/>
            <a:cxnLst/>
            <a:rect l="l" t="t" r="r" b="b"/>
            <a:pathLst>
              <a:path w="758952" h="758952">
                <a:moveTo>
                  <a:pt x="384048" y="740664"/>
                </a:moveTo>
                <a:cubicBezTo>
                  <a:pt x="576072" y="740664"/>
                  <a:pt x="740664" y="576072"/>
                  <a:pt x="740664" y="384048"/>
                </a:cubicBezTo>
                <a:cubicBezTo>
                  <a:pt x="740664" y="182880"/>
                  <a:pt x="576072" y="27432"/>
                  <a:pt x="384048" y="27432"/>
                </a:cubicBezTo>
                <a:cubicBezTo>
                  <a:pt x="182880" y="27432"/>
                  <a:pt x="27432" y="182880"/>
                  <a:pt x="27432" y="384048"/>
                </a:cubicBezTo>
                <a:cubicBezTo>
                  <a:pt x="27432" y="576072"/>
                  <a:pt x="182880" y="740664"/>
                  <a:pt x="384048" y="740664"/>
                </a:cubicBezTo>
                <a:moveTo>
                  <a:pt x="384048" y="758952"/>
                </a:moveTo>
                <a:cubicBezTo>
                  <a:pt x="594360" y="758952"/>
                  <a:pt x="758952" y="594360"/>
                  <a:pt x="758952" y="384048"/>
                </a:cubicBezTo>
                <a:cubicBezTo>
                  <a:pt x="758952" y="173736"/>
                  <a:pt x="594360" y="0"/>
                  <a:pt x="384048" y="0"/>
                </a:cubicBezTo>
                <a:cubicBezTo>
                  <a:pt x="173736" y="0"/>
                  <a:pt x="0" y="173736"/>
                  <a:pt x="0" y="384048"/>
                </a:cubicBezTo>
                <a:cubicBezTo>
                  <a:pt x="0" y="594360"/>
                  <a:pt x="173736" y="758952"/>
                  <a:pt x="384048" y="758952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pPr defTabSz="914400"/>
            <a:endParaRPr lang="zh-CN" altLang="en-US"/>
          </a:p>
        </p:txBody>
      </p:sp>
      <p:sp>
        <p:nvSpPr>
          <p:cNvPr id="37" name="@mix!m0_序号_01-2050-12354"/>
          <p:cNvSpPr/>
          <p:nvPr>
            <p:custDataLst>
              <p:tags r:id="rId9"/>
            </p:custDataLst>
          </p:nvPr>
        </p:nvSpPr>
        <p:spPr>
          <a:xfrm>
            <a:off x="6364020" y="1025142"/>
            <a:ext cx="603473" cy="60347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marL="0" indent="0" algn="ctr" defTabSz="914400">
              <a:lnSpc>
                <a:spcPct val="11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</a:rPr>
              <a:t>01</a:t>
            </a:r>
            <a:endParaRPr lang="zh-CN" alt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</a:endParaRPr>
          </a:p>
        </p:txBody>
      </p:sp>
      <p:sp>
        <p:nvSpPr>
          <p:cNvPr id="38" name="@mix!m0_序号_02-2050-12355"/>
          <p:cNvSpPr/>
          <p:nvPr>
            <p:custDataLst>
              <p:tags r:id="rId10"/>
            </p:custDataLst>
          </p:nvPr>
        </p:nvSpPr>
        <p:spPr>
          <a:xfrm>
            <a:off x="6885200" y="2414958"/>
            <a:ext cx="603473" cy="60347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lvl="0" algn="ctr" defTabSz="914400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02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9" name="@mix!m0_序号_04-2050-12357"/>
          <p:cNvSpPr/>
          <p:nvPr>
            <p:custDataLst>
              <p:tags r:id="rId11"/>
            </p:custDataLst>
          </p:nvPr>
        </p:nvSpPr>
        <p:spPr>
          <a:xfrm>
            <a:off x="6364020" y="5212876"/>
            <a:ext cx="603473" cy="603473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0">
            <a:normAutofit/>
          </a:bodyPr>
          <a:lstStyle/>
          <a:p>
            <a:pPr lvl="0" algn="ctr" defTabSz="914400">
              <a:lnSpc>
                <a:spcPct val="110000"/>
              </a:lnSpc>
              <a:buClrTx/>
              <a:buSzTx/>
              <a:buFontTx/>
            </a:pPr>
            <a:r>
              <a:rPr lang="en-US" b="1" dirty="0">
                <a:solidFill>
                  <a:srgbClr val="FFFFFF"/>
                </a:solidFill>
                <a:latin typeface="+mn-ea"/>
                <a:cs typeface="微软雅黑" panose="020B0503020204020204" pitchFamily="34" charset="-120"/>
                <a:sym typeface="+mn-ea"/>
              </a:rPr>
              <a:t>04</a:t>
            </a:r>
            <a:endParaRPr lang="en-US" b="1" dirty="0">
              <a:solidFill>
                <a:srgbClr val="FFFFFF"/>
              </a:solidFill>
              <a:latin typeface="+mn-ea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0" name="项标题"/>
          <p:cNvSpPr txBox="1"/>
          <p:nvPr>
            <p:custDataLst>
              <p:tags r:id="rId12"/>
            </p:custDataLst>
          </p:nvPr>
        </p:nvSpPr>
        <p:spPr>
          <a:xfrm>
            <a:off x="7694910" y="2469279"/>
            <a:ext cx="3673996" cy="50397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MiSans Light" charset="0"/>
              </a:rPr>
              <a:t>系统设计框架与模型部署链路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MiSans Light" charset="0"/>
            </a:endParaRPr>
          </a:p>
        </p:txBody>
      </p:sp>
      <p:sp>
        <p:nvSpPr>
          <p:cNvPr id="41" name="项标题"/>
          <p:cNvSpPr txBox="1"/>
          <p:nvPr>
            <p:custDataLst>
              <p:tags r:id="rId13"/>
            </p:custDataLst>
          </p:nvPr>
        </p:nvSpPr>
        <p:spPr>
          <a:xfrm>
            <a:off x="7694910" y="3863666"/>
            <a:ext cx="3673996" cy="50397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0000"/>
          </a:bodyPr>
          <a:lstStyle/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MiSans Light" charset="0"/>
              </a:rPr>
              <a:t>Node0–Node15 关键创新与图表证据</a:t>
            </a:r>
            <a:endParaRPr lang="en-US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MiSans Light" charset="0"/>
            </a:endParaRPr>
          </a:p>
        </p:txBody>
      </p:sp>
      <p:sp>
        <p:nvSpPr>
          <p:cNvPr id="42" name="项标题"/>
          <p:cNvSpPr txBox="1"/>
          <p:nvPr>
            <p:custDataLst>
              <p:tags r:id="rId14"/>
            </p:custDataLst>
          </p:nvPr>
        </p:nvSpPr>
        <p:spPr>
          <a:xfrm>
            <a:off x="7173729" y="5262625"/>
            <a:ext cx="3673996" cy="50397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24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sym typeface="MiSans Light" charset="0"/>
              </a:rPr>
              <a:t>结果总结与工程化提交价值</a:t>
            </a:r>
            <a:endParaRPr lang="zh-CN" altLang="en-US" sz="2400" b="1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lt"/>
              <a:sym typeface="MiSans Light" charset="0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/>
          <p:nvPr>
            <p:custDataLst>
              <p:tags r:id="rId1"/>
            </p:custDataLst>
          </p:nvPr>
        </p:nvSpPr>
        <p:spPr bwMode="auto">
          <a:xfrm>
            <a:off x="5360485" y="5000574"/>
            <a:ext cx="1284536" cy="1233788"/>
          </a:xfrm>
          <a:custGeom>
            <a:avLst/>
            <a:gdLst>
              <a:gd name="T0" fmla="*/ 625 w 810"/>
              <a:gd name="T1" fmla="*/ 0 h 778"/>
              <a:gd name="T2" fmla="*/ 810 w 810"/>
              <a:gd name="T3" fmla="*/ 626 h 778"/>
              <a:gd name="T4" fmla="*/ 186 w 810"/>
              <a:gd name="T5" fmla="*/ 778 h 778"/>
              <a:gd name="T6" fmla="*/ 0 w 810"/>
              <a:gd name="T7" fmla="*/ 150 h 778"/>
              <a:gd name="T8" fmla="*/ 625 w 810"/>
              <a:gd name="T9" fmla="*/ 0 h 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0" h="778">
                <a:moveTo>
                  <a:pt x="625" y="0"/>
                </a:moveTo>
                <a:lnTo>
                  <a:pt x="810" y="626"/>
                </a:lnTo>
                <a:lnTo>
                  <a:pt x="186" y="778"/>
                </a:lnTo>
                <a:lnTo>
                  <a:pt x="0" y="150"/>
                </a:lnTo>
                <a:lnTo>
                  <a:pt x="625" y="0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lumMod val="70000"/>
                  <a:lumOff val="30000"/>
                  <a:alpha val="100000"/>
                </a:schemeClr>
              </a:gs>
            </a:gsLst>
            <a:lin ang="20220000" scaled="0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Freeform 6"/>
          <p:cNvSpPr/>
          <p:nvPr>
            <p:custDataLst>
              <p:tags r:id="rId2"/>
            </p:custDataLst>
          </p:nvPr>
        </p:nvSpPr>
        <p:spPr bwMode="auto">
          <a:xfrm>
            <a:off x="6348784" y="4729711"/>
            <a:ext cx="515717" cy="1263602"/>
          </a:xfrm>
          <a:custGeom>
            <a:avLst/>
            <a:gdLst>
              <a:gd name="T0" fmla="*/ 0 w 325"/>
              <a:gd name="T1" fmla="*/ 171 h 797"/>
              <a:gd name="T2" fmla="*/ 140 w 325"/>
              <a:gd name="T3" fmla="*/ 0 h 797"/>
              <a:gd name="T4" fmla="*/ 325 w 325"/>
              <a:gd name="T5" fmla="*/ 626 h 797"/>
              <a:gd name="T6" fmla="*/ 185 w 325"/>
              <a:gd name="T7" fmla="*/ 797 h 797"/>
              <a:gd name="T8" fmla="*/ 0 w 325"/>
              <a:gd name="T9" fmla="*/ 171 h 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5" h="797">
                <a:moveTo>
                  <a:pt x="0" y="171"/>
                </a:moveTo>
                <a:lnTo>
                  <a:pt x="140" y="0"/>
                </a:lnTo>
                <a:lnTo>
                  <a:pt x="325" y="626"/>
                </a:lnTo>
                <a:lnTo>
                  <a:pt x="185" y="797"/>
                </a:lnTo>
                <a:lnTo>
                  <a:pt x="0" y="171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0000"/>
                  <a:lumOff val="30000"/>
                  <a:alpha val="100000"/>
                </a:schemeClr>
              </a:gs>
              <a:gs pos="100000">
                <a:schemeClr val="accent4">
                  <a:lumMod val="50000"/>
                  <a:lumOff val="50000"/>
                  <a:alpha val="100000"/>
                </a:schemeClr>
              </a:gs>
            </a:gsLst>
            <a:lin ang="312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8" name="Freeform 7"/>
          <p:cNvSpPr/>
          <p:nvPr>
            <p:custDataLst>
              <p:tags r:id="rId3"/>
            </p:custDataLst>
          </p:nvPr>
        </p:nvSpPr>
        <p:spPr bwMode="auto">
          <a:xfrm>
            <a:off x="5357947" y="4736055"/>
            <a:ext cx="1213490" cy="508740"/>
          </a:xfrm>
          <a:custGeom>
            <a:avLst/>
            <a:gdLst>
              <a:gd name="T0" fmla="*/ 0 w 765"/>
              <a:gd name="T1" fmla="*/ 321 h 321"/>
              <a:gd name="T2" fmla="*/ 139 w 765"/>
              <a:gd name="T3" fmla="*/ 151 h 321"/>
              <a:gd name="T4" fmla="*/ 765 w 765"/>
              <a:gd name="T5" fmla="*/ 0 h 321"/>
              <a:gd name="T6" fmla="*/ 625 w 765"/>
              <a:gd name="T7" fmla="*/ 171 h 321"/>
              <a:gd name="T8" fmla="*/ 0 w 765"/>
              <a:gd name="T9" fmla="*/ 321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5" h="321">
                <a:moveTo>
                  <a:pt x="0" y="321"/>
                </a:moveTo>
                <a:lnTo>
                  <a:pt x="139" y="151"/>
                </a:lnTo>
                <a:lnTo>
                  <a:pt x="765" y="0"/>
                </a:lnTo>
                <a:lnTo>
                  <a:pt x="625" y="171"/>
                </a:lnTo>
                <a:lnTo>
                  <a:pt x="0" y="321"/>
                </a:lnTo>
                <a:close/>
              </a:path>
            </a:pathLst>
          </a:custGeom>
          <a:gradFill>
            <a:gsLst>
              <a:gs pos="39000">
                <a:schemeClr val="accent4">
                  <a:lumMod val="75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Freeform 8"/>
          <p:cNvSpPr/>
          <p:nvPr>
            <p:custDataLst>
              <p:tags r:id="rId4"/>
            </p:custDataLst>
          </p:nvPr>
        </p:nvSpPr>
        <p:spPr bwMode="auto">
          <a:xfrm>
            <a:off x="4881559" y="2931361"/>
            <a:ext cx="1148153" cy="1221102"/>
          </a:xfrm>
          <a:custGeom>
            <a:avLst/>
            <a:gdLst>
              <a:gd name="T0" fmla="*/ 724 w 724"/>
              <a:gd name="T1" fmla="*/ 123 h 770"/>
              <a:gd name="T2" fmla="*/ 631 w 724"/>
              <a:gd name="T3" fmla="*/ 770 h 770"/>
              <a:gd name="T4" fmla="*/ 0 w 724"/>
              <a:gd name="T5" fmla="*/ 647 h 770"/>
              <a:gd name="T6" fmla="*/ 94 w 724"/>
              <a:gd name="T7" fmla="*/ 0 h 770"/>
              <a:gd name="T8" fmla="*/ 724 w 724"/>
              <a:gd name="T9" fmla="*/ 123 h 7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4" h="770">
                <a:moveTo>
                  <a:pt x="724" y="123"/>
                </a:moveTo>
                <a:lnTo>
                  <a:pt x="631" y="770"/>
                </a:lnTo>
                <a:lnTo>
                  <a:pt x="0" y="647"/>
                </a:lnTo>
                <a:lnTo>
                  <a:pt x="94" y="0"/>
                </a:lnTo>
                <a:lnTo>
                  <a:pt x="724" y="12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91439" tIns="45719" rIns="91439" bIns="45719" numCol="1" anchor="t" anchorCtr="0" compatLnSpc="1"/>
          <a:p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0" name="Freeform 9"/>
          <p:cNvSpPr/>
          <p:nvPr>
            <p:custDataLst>
              <p:tags r:id="rId5"/>
            </p:custDataLst>
          </p:nvPr>
        </p:nvSpPr>
        <p:spPr bwMode="auto">
          <a:xfrm>
            <a:off x="5879374" y="2972593"/>
            <a:ext cx="461798" cy="1179870"/>
          </a:xfrm>
          <a:custGeom>
            <a:avLst/>
            <a:gdLst>
              <a:gd name="T0" fmla="*/ 93 w 291"/>
              <a:gd name="T1" fmla="*/ 97 h 744"/>
              <a:gd name="T2" fmla="*/ 291 w 291"/>
              <a:gd name="T3" fmla="*/ 0 h 744"/>
              <a:gd name="T4" fmla="*/ 198 w 291"/>
              <a:gd name="T5" fmla="*/ 647 h 744"/>
              <a:gd name="T6" fmla="*/ 0 w 291"/>
              <a:gd name="T7" fmla="*/ 744 h 744"/>
              <a:gd name="T8" fmla="*/ 93 w 291"/>
              <a:gd name="T9" fmla="*/ 97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1" h="744">
                <a:moveTo>
                  <a:pt x="93" y="97"/>
                </a:moveTo>
                <a:lnTo>
                  <a:pt x="291" y="0"/>
                </a:lnTo>
                <a:lnTo>
                  <a:pt x="198" y="647"/>
                </a:lnTo>
                <a:lnTo>
                  <a:pt x="0" y="744"/>
                </a:lnTo>
                <a:lnTo>
                  <a:pt x="93" y="9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70000"/>
                  <a:lumOff val="30000"/>
                  <a:alpha val="100000"/>
                </a:schemeClr>
              </a:gs>
              <a:gs pos="100000">
                <a:schemeClr val="accent2">
                  <a:lumMod val="70000"/>
                  <a:lumOff val="30000"/>
                  <a:alpha val="100000"/>
                </a:schemeClr>
              </a:gs>
              <a:gs pos="54000">
                <a:schemeClr val="accent2">
                  <a:lumMod val="50000"/>
                  <a:lumOff val="50000"/>
                  <a:alpha val="100000"/>
                </a:schemeClr>
              </a:gs>
            </a:gsLst>
            <a:lin ang="1326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" name="Freeform 10"/>
          <p:cNvSpPr/>
          <p:nvPr>
            <p:custDataLst>
              <p:tags r:id="rId6"/>
            </p:custDataLst>
          </p:nvPr>
        </p:nvSpPr>
        <p:spPr bwMode="auto">
          <a:xfrm>
            <a:off x="5028091" y="2780389"/>
            <a:ext cx="1313081" cy="348886"/>
          </a:xfrm>
          <a:custGeom>
            <a:avLst/>
            <a:gdLst>
              <a:gd name="T0" fmla="*/ 0 w 828"/>
              <a:gd name="T1" fmla="*/ 97 h 220"/>
              <a:gd name="T2" fmla="*/ 198 w 828"/>
              <a:gd name="T3" fmla="*/ 0 h 220"/>
              <a:gd name="T4" fmla="*/ 828 w 828"/>
              <a:gd name="T5" fmla="*/ 123 h 220"/>
              <a:gd name="T6" fmla="*/ 630 w 828"/>
              <a:gd name="T7" fmla="*/ 220 h 220"/>
              <a:gd name="T8" fmla="*/ 0 w 828"/>
              <a:gd name="T9" fmla="*/ 97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8" h="220">
                <a:moveTo>
                  <a:pt x="0" y="97"/>
                </a:moveTo>
                <a:lnTo>
                  <a:pt x="198" y="0"/>
                </a:lnTo>
                <a:lnTo>
                  <a:pt x="828" y="123"/>
                </a:lnTo>
                <a:lnTo>
                  <a:pt x="630" y="220"/>
                </a:lnTo>
                <a:lnTo>
                  <a:pt x="0" y="97"/>
                </a:lnTo>
                <a:close/>
              </a:path>
            </a:pathLst>
          </a:custGeom>
          <a:gradFill>
            <a:gsLst>
              <a:gs pos="39000">
                <a:schemeClr val="accent2">
                  <a:lumMod val="75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 scaled="1"/>
          </a:gradFill>
          <a:ln>
            <a:noFill/>
          </a:ln>
        </p:spPr>
        <p:txBody>
          <a:bodyPr vert="horz" wrap="square" lIns="91439" tIns="45719" rIns="91439" bIns="45719" numCol="1" anchor="t" anchorCtr="0" compatLnSpc="1">
            <a:noAutofit/>
          </a:bodyPr>
          <a:p>
            <a:pPr lvl="0" algn="l">
              <a:buClrTx/>
              <a:buSzTx/>
              <a:buFontTx/>
            </a:pPr>
            <a:endParaRPr 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Freeform 11"/>
          <p:cNvSpPr/>
          <p:nvPr>
            <p:custDataLst>
              <p:tags r:id="rId7"/>
            </p:custDataLst>
          </p:nvPr>
        </p:nvSpPr>
        <p:spPr bwMode="auto">
          <a:xfrm>
            <a:off x="5944710" y="1702648"/>
            <a:ext cx="1181138" cy="1162108"/>
          </a:xfrm>
          <a:custGeom>
            <a:avLst/>
            <a:gdLst>
              <a:gd name="T0" fmla="*/ 601 w 745"/>
              <a:gd name="T1" fmla="*/ 0 h 733"/>
              <a:gd name="T2" fmla="*/ 745 w 745"/>
              <a:gd name="T3" fmla="*/ 641 h 733"/>
              <a:gd name="T4" fmla="*/ 142 w 745"/>
              <a:gd name="T5" fmla="*/ 733 h 733"/>
              <a:gd name="T6" fmla="*/ 0 w 745"/>
              <a:gd name="T7" fmla="*/ 91 h 733"/>
              <a:gd name="T8" fmla="*/ 601 w 745"/>
              <a:gd name="T9" fmla="*/ 0 h 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5" h="733">
                <a:moveTo>
                  <a:pt x="601" y="0"/>
                </a:moveTo>
                <a:lnTo>
                  <a:pt x="745" y="641"/>
                </a:lnTo>
                <a:lnTo>
                  <a:pt x="142" y="733"/>
                </a:lnTo>
                <a:lnTo>
                  <a:pt x="0" y="91"/>
                </a:lnTo>
                <a:lnTo>
                  <a:pt x="601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30000"/>
                  <a:lumOff val="70000"/>
                  <a:alpha val="100000"/>
                </a:schemeClr>
              </a:gs>
              <a:gs pos="100000">
                <a:schemeClr val="accent1">
                  <a:lumMod val="30000"/>
                  <a:lumOff val="7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5" name="Freeform 12"/>
          <p:cNvSpPr/>
          <p:nvPr>
            <p:custDataLst>
              <p:tags r:id="rId8"/>
            </p:custDataLst>
          </p:nvPr>
        </p:nvSpPr>
        <p:spPr bwMode="auto">
          <a:xfrm>
            <a:off x="5763924" y="2718858"/>
            <a:ext cx="1361925" cy="393290"/>
          </a:xfrm>
          <a:custGeom>
            <a:avLst/>
            <a:gdLst>
              <a:gd name="T0" fmla="*/ 859 w 859"/>
              <a:gd name="T1" fmla="*/ 0 h 248"/>
              <a:gd name="T2" fmla="*/ 603 w 859"/>
              <a:gd name="T3" fmla="*/ 156 h 248"/>
              <a:gd name="T4" fmla="*/ 0 w 859"/>
              <a:gd name="T5" fmla="*/ 248 h 248"/>
              <a:gd name="T6" fmla="*/ 256 w 859"/>
              <a:gd name="T7" fmla="*/ 92 h 248"/>
              <a:gd name="T8" fmla="*/ 859 w 859"/>
              <a:gd name="T9" fmla="*/ 0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59" h="248">
                <a:moveTo>
                  <a:pt x="859" y="0"/>
                </a:moveTo>
                <a:lnTo>
                  <a:pt x="603" y="156"/>
                </a:lnTo>
                <a:lnTo>
                  <a:pt x="0" y="248"/>
                </a:lnTo>
                <a:lnTo>
                  <a:pt x="256" y="92"/>
                </a:lnTo>
                <a:lnTo>
                  <a:pt x="85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80000"/>
                  <a:lumOff val="20000"/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6" name="Freeform 13"/>
          <p:cNvSpPr/>
          <p:nvPr>
            <p:custDataLst>
              <p:tags r:id="rId9"/>
            </p:custDataLst>
          </p:nvPr>
        </p:nvSpPr>
        <p:spPr bwMode="auto">
          <a:xfrm>
            <a:off x="5538734" y="1846643"/>
            <a:ext cx="631167" cy="1265505"/>
          </a:xfrm>
          <a:custGeom>
            <a:avLst/>
            <a:gdLst>
              <a:gd name="T0" fmla="*/ 398 w 398"/>
              <a:gd name="T1" fmla="*/ 642 h 798"/>
              <a:gd name="T2" fmla="*/ 142 w 398"/>
              <a:gd name="T3" fmla="*/ 798 h 798"/>
              <a:gd name="T4" fmla="*/ 0 w 398"/>
              <a:gd name="T5" fmla="*/ 157 h 798"/>
              <a:gd name="T6" fmla="*/ 256 w 398"/>
              <a:gd name="T7" fmla="*/ 0 h 798"/>
              <a:gd name="T8" fmla="*/ 398 w 398"/>
              <a:gd name="T9" fmla="*/ 642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8" h="798">
                <a:moveTo>
                  <a:pt x="398" y="642"/>
                </a:moveTo>
                <a:lnTo>
                  <a:pt x="142" y="798"/>
                </a:lnTo>
                <a:lnTo>
                  <a:pt x="0" y="157"/>
                </a:lnTo>
                <a:lnTo>
                  <a:pt x="256" y="0"/>
                </a:lnTo>
                <a:lnTo>
                  <a:pt x="398" y="64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95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8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7" name="Freeform 14"/>
          <p:cNvSpPr/>
          <p:nvPr>
            <p:custDataLst>
              <p:tags r:id="rId10"/>
            </p:custDataLst>
          </p:nvPr>
        </p:nvSpPr>
        <p:spPr bwMode="auto">
          <a:xfrm>
            <a:off x="6142624" y="3769957"/>
            <a:ext cx="1282633" cy="1367000"/>
          </a:xfrm>
          <a:custGeom>
            <a:avLst/>
            <a:gdLst>
              <a:gd name="connsiteX0" fmla="*/ 1397 w 2022"/>
              <a:gd name="connsiteY0" fmla="*/ 0 h 2155"/>
              <a:gd name="connsiteX1" fmla="*/ 2022 w 2022"/>
              <a:gd name="connsiteY1" fmla="*/ 1460 h 2155"/>
              <a:gd name="connsiteX2" fmla="*/ 600 w 2022"/>
              <a:gd name="connsiteY2" fmla="*/ 2155 h 2155"/>
              <a:gd name="connsiteX3" fmla="*/ 0 w 2022"/>
              <a:gd name="connsiteY3" fmla="*/ 648 h 2155"/>
              <a:gd name="connsiteX4" fmla="*/ 1397 w 2022"/>
              <a:gd name="connsiteY4" fmla="*/ 0 h 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022" h="2155">
                <a:moveTo>
                  <a:pt x="1397" y="0"/>
                </a:moveTo>
                <a:lnTo>
                  <a:pt x="2022" y="1460"/>
                </a:lnTo>
                <a:lnTo>
                  <a:pt x="600" y="2155"/>
                </a:lnTo>
                <a:lnTo>
                  <a:pt x="0" y="648"/>
                </a:lnTo>
                <a:lnTo>
                  <a:pt x="1397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  <a:alpha val="100000"/>
                </a:schemeClr>
              </a:gs>
              <a:gs pos="100000">
                <a:schemeClr val="accent3">
                  <a:lumMod val="40000"/>
                  <a:lumOff val="6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8" name="Freeform 15"/>
          <p:cNvSpPr/>
          <p:nvPr>
            <p:custDataLst>
              <p:tags r:id="rId11"/>
            </p:custDataLst>
          </p:nvPr>
        </p:nvSpPr>
        <p:spPr bwMode="auto">
          <a:xfrm>
            <a:off x="5690975" y="4118843"/>
            <a:ext cx="832887" cy="1018113"/>
          </a:xfrm>
          <a:custGeom>
            <a:avLst/>
            <a:gdLst>
              <a:gd name="T0" fmla="*/ 525 w 525"/>
              <a:gd name="T1" fmla="*/ 642 h 642"/>
              <a:gd name="T2" fmla="*/ 240 w 525"/>
              <a:gd name="T3" fmla="*/ 603 h 642"/>
              <a:gd name="T4" fmla="*/ 0 w 525"/>
              <a:gd name="T5" fmla="*/ 0 h 642"/>
              <a:gd name="T6" fmla="*/ 285 w 525"/>
              <a:gd name="T7" fmla="*/ 39 h 642"/>
              <a:gd name="T8" fmla="*/ 525 w 525"/>
              <a:gd name="T9" fmla="*/ 642 h 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" h="642">
                <a:moveTo>
                  <a:pt x="525" y="642"/>
                </a:moveTo>
                <a:lnTo>
                  <a:pt x="240" y="603"/>
                </a:lnTo>
                <a:lnTo>
                  <a:pt x="0" y="0"/>
                </a:lnTo>
                <a:lnTo>
                  <a:pt x="285" y="39"/>
                </a:lnTo>
                <a:lnTo>
                  <a:pt x="525" y="642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16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9" name="Freeform 16"/>
          <p:cNvSpPr/>
          <p:nvPr>
            <p:custDataLst>
              <p:tags r:id="rId12"/>
            </p:custDataLst>
          </p:nvPr>
        </p:nvSpPr>
        <p:spPr bwMode="auto">
          <a:xfrm>
            <a:off x="5690975" y="3696374"/>
            <a:ext cx="1335283" cy="487172"/>
          </a:xfrm>
          <a:custGeom>
            <a:avLst/>
            <a:gdLst>
              <a:gd name="connsiteX0" fmla="*/ 713 w 2105"/>
              <a:gd name="connsiteY0" fmla="*/ 768 h 768"/>
              <a:gd name="connsiteX1" fmla="*/ 0 w 2105"/>
              <a:gd name="connsiteY1" fmla="*/ 671 h 768"/>
              <a:gd name="connsiteX2" fmla="*/ 1431 w 2105"/>
              <a:gd name="connsiteY2" fmla="*/ 0 h 768"/>
              <a:gd name="connsiteX3" fmla="*/ 2105 w 2105"/>
              <a:gd name="connsiteY3" fmla="*/ 119 h 768"/>
              <a:gd name="connsiteX4" fmla="*/ 713 w 2105"/>
              <a:gd name="connsiteY4" fmla="*/ 768 h 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0" t="0" r="r" b="b"/>
            <a:pathLst>
              <a:path w="2105" h="768">
                <a:moveTo>
                  <a:pt x="713" y="768"/>
                </a:moveTo>
                <a:lnTo>
                  <a:pt x="0" y="671"/>
                </a:lnTo>
                <a:lnTo>
                  <a:pt x="1431" y="0"/>
                </a:lnTo>
                <a:lnTo>
                  <a:pt x="2105" y="119"/>
                </a:lnTo>
                <a:lnTo>
                  <a:pt x="713" y="7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90000"/>
                  <a:lumOff val="10000"/>
                  <a:alpha val="100000"/>
                </a:schemeClr>
              </a:gs>
              <a:gs pos="100000">
                <a:schemeClr val="accent3">
                  <a:lumMod val="90000"/>
                  <a:lumOff val="10000"/>
                  <a:alpha val="100000"/>
                </a:schemeClr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0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id-ID" sz="135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+mn-ea"/>
            </a:endParaRPr>
          </a:p>
        </p:txBody>
      </p:sp>
      <p:cxnSp>
        <p:nvCxnSpPr>
          <p:cNvPr id="20" name="Straight Connector 28"/>
          <p:cNvCxnSpPr/>
          <p:nvPr>
            <p:custDataLst>
              <p:tags r:id="rId13"/>
            </p:custDataLst>
          </p:nvPr>
        </p:nvCxnSpPr>
        <p:spPr>
          <a:xfrm flipH="1">
            <a:off x="4177443" y="4482319"/>
            <a:ext cx="1524316" cy="0"/>
          </a:xfrm>
          <a:prstGeom prst="line">
            <a:avLst/>
          </a:prstGeom>
          <a:ln w="19050">
            <a:solidFill>
              <a:schemeClr val="accent3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9"/>
          <p:cNvCxnSpPr/>
          <p:nvPr>
            <p:custDataLst>
              <p:tags r:id="rId14"/>
            </p:custDataLst>
          </p:nvPr>
        </p:nvCxnSpPr>
        <p:spPr>
          <a:xfrm flipH="1">
            <a:off x="4177443" y="2289411"/>
            <a:ext cx="128199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0"/>
          <p:cNvCxnSpPr/>
          <p:nvPr>
            <p:custDataLst>
              <p:tags r:id="rId15"/>
            </p:custDataLst>
          </p:nvPr>
        </p:nvCxnSpPr>
        <p:spPr>
          <a:xfrm>
            <a:off x="6938085" y="5568307"/>
            <a:ext cx="1079010" cy="0"/>
          </a:xfrm>
          <a:prstGeom prst="line">
            <a:avLst/>
          </a:prstGeom>
          <a:ln w="19050">
            <a:solidFill>
              <a:schemeClr val="accent4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0"/>
          <p:cNvCxnSpPr/>
          <p:nvPr>
            <p:custDataLst>
              <p:tags r:id="rId16"/>
            </p:custDataLst>
          </p:nvPr>
        </p:nvCxnSpPr>
        <p:spPr>
          <a:xfrm>
            <a:off x="6421733" y="3378570"/>
            <a:ext cx="1592190" cy="0"/>
          </a:xfrm>
          <a:prstGeom prst="line">
            <a:avLst/>
          </a:prstGeom>
          <a:ln w="19050">
            <a:solidFill>
              <a:schemeClr val="accent2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11"/>
          <p:cNvSpPr/>
          <p:nvPr>
            <p:custDataLst>
              <p:tags r:id="rId17"/>
            </p:custDataLst>
          </p:nvPr>
        </p:nvSpPr>
        <p:spPr>
          <a:xfrm>
            <a:off x="701268" y="1711528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indent="0" algn="r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云端超分存在高时延、带宽压力与隐私合规风险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5" name="矩形 13"/>
          <p:cNvSpPr/>
          <p:nvPr>
            <p:custDataLst>
              <p:tags r:id="rId18"/>
            </p:custDataLst>
          </p:nvPr>
        </p:nvSpPr>
        <p:spPr>
          <a:xfrm>
            <a:off x="701268" y="3904437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indent="0" algn="r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真实业务要求连续稳定处理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而非单次离线跑分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sp>
        <p:nvSpPr>
          <p:cNvPr id="26" name="矩形 3"/>
          <p:cNvSpPr/>
          <p:nvPr>
            <p:custDataLst>
              <p:tags r:id="rId19"/>
            </p:custDataLst>
          </p:nvPr>
        </p:nvSpPr>
        <p:spPr>
          <a:xfrm>
            <a:off x="8294300" y="2807031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边缘设备受限于算力、显存和功耗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直接部署高复杂模型困难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pic>
        <p:nvPicPr>
          <p:cNvPr id="27" name="图片 16" descr="343439383331313b343532303033323bd3a6d3c3b9dcc0e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20873969">
            <a:off x="6330388" y="2060415"/>
            <a:ext cx="443894" cy="443894"/>
          </a:xfrm>
          <a:prstGeom prst="rect">
            <a:avLst/>
          </a:prstGeom>
        </p:spPr>
      </p:pic>
      <p:pic>
        <p:nvPicPr>
          <p:cNvPr id="28" name="图片 4" descr="343439383331313b343532303032303bb8f6c8cbd0c5cfa2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471607">
            <a:off x="5221564" y="3327189"/>
            <a:ext cx="444670" cy="444670"/>
          </a:xfrm>
          <a:prstGeom prst="rect">
            <a:avLst/>
          </a:prstGeom>
        </p:spPr>
      </p:pic>
      <p:pic>
        <p:nvPicPr>
          <p:cNvPr id="29" name="图片 3" descr="343439383331313b343532303031393bd2b5bca8b9dcc0ed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0333184">
            <a:off x="6560653" y="4267278"/>
            <a:ext cx="412806" cy="412806"/>
          </a:xfrm>
          <a:prstGeom prst="rect">
            <a:avLst/>
          </a:prstGeom>
        </p:spPr>
      </p:pic>
      <p:sp>
        <p:nvSpPr>
          <p:cNvPr id="30" name="矩形 5"/>
          <p:cNvSpPr/>
          <p:nvPr>
            <p:custDataLst>
              <p:tags r:id="rId29"/>
            </p:custDataLst>
          </p:nvPr>
        </p:nvSpPr>
        <p:spPr>
          <a:xfrm>
            <a:off x="8294300" y="4999939"/>
            <a:ext cx="3195798" cy="1059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核心问题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sym typeface="+mn-ea"/>
              </a:rPr>
              <a:t>在多约束下实现质量、时延、带宽、能耗的平衡最优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uFillTx/>
              <a:sym typeface="+mn-ea"/>
            </a:endParaRPr>
          </a:p>
        </p:txBody>
      </p:sp>
      <p:pic>
        <p:nvPicPr>
          <p:cNvPr id="31" name="图片 14" descr="343439383331313b343532303033303bd2d1b9bad3a6d3c3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20824379">
            <a:off x="5803253" y="5420506"/>
            <a:ext cx="444670" cy="444670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custDataLst>
              <p:tags r:id="rId3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项目背景与核心痛点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02"/>
          <p:cNvSpPr/>
          <p:nvPr>
            <p:custDataLst>
              <p:tags r:id="rId1"/>
            </p:custDataLst>
          </p:nvPr>
        </p:nvSpPr>
        <p:spPr>
          <a:xfrm>
            <a:off x="614009" y="1536857"/>
            <a:ext cx="10957564" cy="1848687"/>
          </a:xfrm>
          <a:custGeom>
            <a:avLst/>
            <a:gdLst>
              <a:gd name="connsiteX0" fmla="*/ 0 w 10969200"/>
              <a:gd name="connsiteY0" fmla="*/ 0 h 1850650"/>
              <a:gd name="connsiteX1" fmla="*/ 10969200 w 10969200"/>
              <a:gd name="connsiteY1" fmla="*/ 0 h 1850650"/>
              <a:gd name="connsiteX2" fmla="*/ 10969200 w 10969200"/>
              <a:gd name="connsiteY2" fmla="*/ 827641 h 1850650"/>
              <a:gd name="connsiteX3" fmla="*/ 10802207 w 10969200"/>
              <a:gd name="connsiteY3" fmla="*/ 906408 h 1850650"/>
              <a:gd name="connsiteX4" fmla="*/ 5484603 w 10969200"/>
              <a:gd name="connsiteY4" fmla="*/ 1850650 h 1850650"/>
              <a:gd name="connsiteX5" fmla="*/ 166996 w 10969200"/>
              <a:gd name="connsiteY5" fmla="*/ 906408 h 1850650"/>
              <a:gd name="connsiteX6" fmla="*/ 0 w 10969200"/>
              <a:gd name="connsiteY6" fmla="*/ 827639 h 185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69200" h="1850650">
                <a:moveTo>
                  <a:pt x="0" y="0"/>
                </a:moveTo>
                <a:lnTo>
                  <a:pt x="10969200" y="0"/>
                </a:lnTo>
                <a:lnTo>
                  <a:pt x="10969200" y="827641"/>
                </a:lnTo>
                <a:lnTo>
                  <a:pt x="10802207" y="906408"/>
                </a:lnTo>
                <a:cubicBezTo>
                  <a:pt x="9441313" y="1489809"/>
                  <a:pt x="7561256" y="1850650"/>
                  <a:pt x="5484603" y="1850650"/>
                </a:cubicBezTo>
                <a:cubicBezTo>
                  <a:pt x="3407948" y="1850650"/>
                  <a:pt x="1527891" y="1489809"/>
                  <a:pt x="166996" y="906408"/>
                </a:cubicBezTo>
                <a:lnTo>
                  <a:pt x="0" y="827639"/>
                </a:lnTo>
                <a:close/>
              </a:path>
            </a:pathLst>
          </a:custGeom>
          <a:noFill/>
          <a:ln w="15875"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53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0" name="任意多边形: 形状 7"/>
          <p:cNvSpPr/>
          <p:nvPr>
            <p:custDataLst>
              <p:tags r:id="rId2"/>
            </p:custDataLst>
          </p:nvPr>
        </p:nvSpPr>
        <p:spPr>
          <a:xfrm>
            <a:off x="614009" y="1765215"/>
            <a:ext cx="10957564" cy="1848687"/>
          </a:xfrm>
          <a:custGeom>
            <a:avLst/>
            <a:gdLst>
              <a:gd name="connsiteX0" fmla="*/ 0 w 10969200"/>
              <a:gd name="connsiteY0" fmla="*/ 0 h 1850650"/>
              <a:gd name="connsiteX1" fmla="*/ 10969200 w 10969200"/>
              <a:gd name="connsiteY1" fmla="*/ 0 h 1850650"/>
              <a:gd name="connsiteX2" fmla="*/ 10969200 w 10969200"/>
              <a:gd name="connsiteY2" fmla="*/ 827641 h 1850650"/>
              <a:gd name="connsiteX3" fmla="*/ 10802207 w 10969200"/>
              <a:gd name="connsiteY3" fmla="*/ 906408 h 1850650"/>
              <a:gd name="connsiteX4" fmla="*/ 5484603 w 10969200"/>
              <a:gd name="connsiteY4" fmla="*/ 1850650 h 1850650"/>
              <a:gd name="connsiteX5" fmla="*/ 166996 w 10969200"/>
              <a:gd name="connsiteY5" fmla="*/ 906408 h 1850650"/>
              <a:gd name="connsiteX6" fmla="*/ 0 w 10969200"/>
              <a:gd name="connsiteY6" fmla="*/ 827639 h 185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69200" h="1850650">
                <a:moveTo>
                  <a:pt x="0" y="0"/>
                </a:moveTo>
                <a:lnTo>
                  <a:pt x="10969200" y="0"/>
                </a:lnTo>
                <a:lnTo>
                  <a:pt x="10969200" y="827641"/>
                </a:lnTo>
                <a:lnTo>
                  <a:pt x="10802207" y="906408"/>
                </a:lnTo>
                <a:cubicBezTo>
                  <a:pt x="9441313" y="1489809"/>
                  <a:pt x="7561256" y="1850650"/>
                  <a:pt x="5484603" y="1850650"/>
                </a:cubicBezTo>
                <a:cubicBezTo>
                  <a:pt x="3407948" y="1850650"/>
                  <a:pt x="1527891" y="1489809"/>
                  <a:pt x="166996" y="906408"/>
                </a:cubicBezTo>
                <a:lnTo>
                  <a:pt x="0" y="827639"/>
                </a:lnTo>
                <a:close/>
              </a:path>
            </a:pathLst>
          </a:custGeom>
          <a:noFill/>
          <a:ln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53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1" name="任意多边形: 形状 6"/>
          <p:cNvSpPr/>
          <p:nvPr>
            <p:custDataLst>
              <p:tags r:id="rId3"/>
            </p:custDataLst>
          </p:nvPr>
        </p:nvSpPr>
        <p:spPr>
          <a:xfrm>
            <a:off x="614009" y="1663088"/>
            <a:ext cx="10957564" cy="1848687"/>
          </a:xfrm>
          <a:custGeom>
            <a:avLst/>
            <a:gdLst>
              <a:gd name="connsiteX0" fmla="*/ 0 w 10969200"/>
              <a:gd name="connsiteY0" fmla="*/ 0 h 1850650"/>
              <a:gd name="connsiteX1" fmla="*/ 10969200 w 10969200"/>
              <a:gd name="connsiteY1" fmla="*/ 0 h 1850650"/>
              <a:gd name="connsiteX2" fmla="*/ 10969200 w 10969200"/>
              <a:gd name="connsiteY2" fmla="*/ 827641 h 1850650"/>
              <a:gd name="connsiteX3" fmla="*/ 10802207 w 10969200"/>
              <a:gd name="connsiteY3" fmla="*/ 906408 h 1850650"/>
              <a:gd name="connsiteX4" fmla="*/ 5484603 w 10969200"/>
              <a:gd name="connsiteY4" fmla="*/ 1850650 h 1850650"/>
              <a:gd name="connsiteX5" fmla="*/ 166996 w 10969200"/>
              <a:gd name="connsiteY5" fmla="*/ 906408 h 1850650"/>
              <a:gd name="connsiteX6" fmla="*/ 0 w 10969200"/>
              <a:gd name="connsiteY6" fmla="*/ 827639 h 1850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69200" h="1850650">
                <a:moveTo>
                  <a:pt x="0" y="0"/>
                </a:moveTo>
                <a:lnTo>
                  <a:pt x="10969200" y="0"/>
                </a:lnTo>
                <a:lnTo>
                  <a:pt x="10969200" y="827641"/>
                </a:lnTo>
                <a:lnTo>
                  <a:pt x="10802207" y="906408"/>
                </a:lnTo>
                <a:cubicBezTo>
                  <a:pt x="9441313" y="1489809"/>
                  <a:pt x="7561256" y="1850650"/>
                  <a:pt x="5484603" y="1850650"/>
                </a:cubicBezTo>
                <a:cubicBezTo>
                  <a:pt x="3407948" y="1850650"/>
                  <a:pt x="1527891" y="1489809"/>
                  <a:pt x="166996" y="906408"/>
                </a:cubicBezTo>
                <a:lnTo>
                  <a:pt x="0" y="827639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18000"/>
                </a:schemeClr>
              </a:gs>
              <a:gs pos="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23" name="矩形 2"/>
          <p:cNvSpPr/>
          <p:nvPr>
            <p:custDataLst>
              <p:tags r:id="rId4"/>
            </p:custDataLst>
          </p:nvPr>
        </p:nvSpPr>
        <p:spPr>
          <a:xfrm>
            <a:off x="2175086" y="2933009"/>
            <a:ext cx="558842" cy="558842"/>
          </a:xfrm>
          <a:prstGeom prst="ellipse">
            <a:avLst/>
          </a:prstGeom>
          <a:gradFill flip="none" rotWithShape="1">
            <a:gsLst>
              <a:gs pos="75000">
                <a:schemeClr val="accent1">
                  <a:alpha val="100000"/>
                </a:schemeClr>
              </a:gs>
              <a:gs pos="0">
                <a:schemeClr val="accent1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24" name="椭圆 11"/>
          <p:cNvSpPr/>
          <p:nvPr>
            <p:custDataLst>
              <p:tags r:id="rId5"/>
            </p:custDataLst>
          </p:nvPr>
        </p:nvSpPr>
        <p:spPr>
          <a:xfrm>
            <a:off x="2125609" y="2883532"/>
            <a:ext cx="657162" cy="657162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6000">
                  <a:schemeClr val="accent1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Oval 11+"/>
          <p:cNvSpPr/>
          <p:nvPr>
            <p:custDataLst>
              <p:tags r:id="rId6"/>
            </p:custDataLst>
          </p:nvPr>
        </p:nvSpPr>
        <p:spPr>
          <a:xfrm>
            <a:off x="2060908" y="2818831"/>
            <a:ext cx="786565" cy="78656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1">
                    <a:alpha val="100000"/>
                  </a:schemeClr>
                </a:gs>
                <a:gs pos="86000">
                  <a:schemeClr val="accent1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矩形 1"/>
          <p:cNvSpPr/>
          <p:nvPr>
            <p:custDataLst>
              <p:tags r:id="rId7"/>
            </p:custDataLst>
          </p:nvPr>
        </p:nvSpPr>
        <p:spPr>
          <a:xfrm>
            <a:off x="1701879" y="4728153"/>
            <a:ext cx="1504622" cy="10491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面向</a:t>
            </a:r>
            <a:r>
              <a:rPr lang="en-US" altLang="zh-CN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AirBox(BM1684X)</a:t>
            </a: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的端侧视觉增强系统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8" name="矩形 2"/>
          <p:cNvSpPr/>
          <p:nvPr>
            <p:custDataLst>
              <p:tags r:id="rId8"/>
            </p:custDataLst>
          </p:nvPr>
        </p:nvSpPr>
        <p:spPr>
          <a:xfrm>
            <a:off x="1701879" y="4230841"/>
            <a:ext cx="1504622" cy="36790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作品定位</a:t>
            </a:r>
            <a:endParaRPr lang="zh-CN" altLang="en-US" sz="2000" b="1">
              <a:gradFill flip="none" rotWithShape="1">
                <a:gsLst>
                  <a:gs pos="36000">
                    <a:schemeClr val="accent1">
                      <a:alpha val="100000"/>
                    </a:schemeClr>
                  </a:gs>
                  <a:gs pos="100000">
                    <a:schemeClr val="accent1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29" name="直接连接符 25"/>
          <p:cNvCxnSpPr/>
          <p:nvPr>
            <p:custDataLst>
              <p:tags r:id="rId9"/>
            </p:custDataLst>
          </p:nvPr>
        </p:nvCxnSpPr>
        <p:spPr>
          <a:xfrm>
            <a:off x="2454190" y="3606030"/>
            <a:ext cx="0" cy="537909"/>
          </a:xfrm>
          <a:prstGeom prst="line">
            <a:avLst/>
          </a:prstGeom>
          <a:ln w="15875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"/>
          <p:cNvSpPr/>
          <p:nvPr>
            <p:custDataLst>
              <p:tags r:id="rId10"/>
            </p:custDataLst>
          </p:nvPr>
        </p:nvSpPr>
        <p:spPr>
          <a:xfrm>
            <a:off x="4602653" y="3333269"/>
            <a:ext cx="558842" cy="558842"/>
          </a:xfrm>
          <a:prstGeom prst="ellipse">
            <a:avLst/>
          </a:prstGeom>
          <a:gradFill flip="none" rotWithShape="1">
            <a:gsLst>
              <a:gs pos="75000">
                <a:schemeClr val="accent2">
                  <a:alpha val="100000"/>
                </a:schemeClr>
              </a:gs>
              <a:gs pos="0">
                <a:schemeClr val="accent2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33" name="椭圆 31"/>
          <p:cNvSpPr/>
          <p:nvPr>
            <p:custDataLst>
              <p:tags r:id="rId11"/>
            </p:custDataLst>
          </p:nvPr>
        </p:nvSpPr>
        <p:spPr>
          <a:xfrm>
            <a:off x="4553176" y="3283792"/>
            <a:ext cx="657162" cy="657162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6000">
                  <a:schemeClr val="accent2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5" name="Oval 11+"/>
          <p:cNvSpPr/>
          <p:nvPr>
            <p:custDataLst>
              <p:tags r:id="rId12"/>
            </p:custDataLst>
          </p:nvPr>
        </p:nvSpPr>
        <p:spPr>
          <a:xfrm>
            <a:off x="4488475" y="3219091"/>
            <a:ext cx="786565" cy="78656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2">
                    <a:alpha val="100000"/>
                  </a:schemeClr>
                </a:gs>
                <a:gs pos="86000">
                  <a:schemeClr val="accent2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6" name="矩形 3"/>
          <p:cNvSpPr/>
          <p:nvPr>
            <p:custDataLst>
              <p:tags r:id="rId13"/>
            </p:custDataLst>
          </p:nvPr>
        </p:nvSpPr>
        <p:spPr>
          <a:xfrm>
            <a:off x="4129446" y="5128413"/>
            <a:ext cx="1504622" cy="10491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超分辨率重建、退化抑制、视频流实时增强、弱网恢复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7" name="矩形 4"/>
          <p:cNvSpPr/>
          <p:nvPr>
            <p:custDataLst>
              <p:tags r:id="rId14"/>
            </p:custDataLst>
          </p:nvPr>
        </p:nvSpPr>
        <p:spPr>
          <a:xfrm>
            <a:off x="4129446" y="4631101"/>
            <a:ext cx="1504622" cy="36790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2">
                        <a:alpha val="100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支持任务</a:t>
            </a:r>
            <a:endParaRPr lang="zh-CN" altLang="en-US" sz="2000" b="1">
              <a:gradFill flip="none" rotWithShape="1">
                <a:gsLst>
                  <a:gs pos="36000">
                    <a:schemeClr val="accent2">
                      <a:alpha val="100000"/>
                    </a:schemeClr>
                  </a:gs>
                  <a:gs pos="100000">
                    <a:schemeClr val="accent2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39" name="直接连接符 37"/>
          <p:cNvCxnSpPr/>
          <p:nvPr>
            <p:custDataLst>
              <p:tags r:id="rId15"/>
            </p:custDataLst>
          </p:nvPr>
        </p:nvCxnSpPr>
        <p:spPr>
          <a:xfrm>
            <a:off x="4881757" y="4005655"/>
            <a:ext cx="0" cy="537909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10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2"/>
          <p:cNvSpPr/>
          <p:nvPr>
            <p:custDataLst>
              <p:tags r:id="rId16"/>
            </p:custDataLst>
          </p:nvPr>
        </p:nvSpPr>
        <p:spPr>
          <a:xfrm>
            <a:off x="7030221" y="3333269"/>
            <a:ext cx="558842" cy="558842"/>
          </a:xfrm>
          <a:prstGeom prst="ellipse">
            <a:avLst/>
          </a:prstGeom>
          <a:gradFill flip="none" rotWithShape="1">
            <a:gsLst>
              <a:gs pos="75000">
                <a:schemeClr val="accent3">
                  <a:alpha val="100000"/>
                </a:schemeClr>
              </a:gs>
              <a:gs pos="0">
                <a:schemeClr val="accent3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41" name="椭圆 61"/>
          <p:cNvSpPr/>
          <p:nvPr>
            <p:custDataLst>
              <p:tags r:id="rId17"/>
            </p:custDataLst>
          </p:nvPr>
        </p:nvSpPr>
        <p:spPr>
          <a:xfrm>
            <a:off x="6980743" y="3283792"/>
            <a:ext cx="657162" cy="657162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3">
                    <a:alpha val="100000"/>
                  </a:schemeClr>
                </a:gs>
                <a:gs pos="86000">
                  <a:schemeClr val="accent3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2" name="Oval 11+"/>
          <p:cNvSpPr/>
          <p:nvPr>
            <p:custDataLst>
              <p:tags r:id="rId18"/>
            </p:custDataLst>
          </p:nvPr>
        </p:nvSpPr>
        <p:spPr>
          <a:xfrm>
            <a:off x="6916042" y="3219091"/>
            <a:ext cx="786565" cy="78656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3">
                    <a:alpha val="100000"/>
                  </a:schemeClr>
                </a:gs>
                <a:gs pos="86000">
                  <a:schemeClr val="accent3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3" name="矩形 5"/>
          <p:cNvSpPr/>
          <p:nvPr>
            <p:custDataLst>
              <p:tags r:id="rId19"/>
            </p:custDataLst>
          </p:nvPr>
        </p:nvSpPr>
        <p:spPr>
          <a:xfrm>
            <a:off x="6494145" y="5128260"/>
            <a:ext cx="1680845" cy="10490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安防交通、智能教育、机器人巡检、医疗辅助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4" name="矩形 8"/>
          <p:cNvSpPr/>
          <p:nvPr>
            <p:custDataLst>
              <p:tags r:id="rId20"/>
            </p:custDataLst>
          </p:nvPr>
        </p:nvSpPr>
        <p:spPr>
          <a:xfrm>
            <a:off x="6557647" y="4631101"/>
            <a:ext cx="1504622" cy="36790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3">
                        <a:alpha val="10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重点场景</a:t>
            </a:r>
            <a:endParaRPr lang="zh-CN" altLang="en-US" sz="2000" b="1">
              <a:gradFill flip="none" rotWithShape="1">
                <a:gsLst>
                  <a:gs pos="36000">
                    <a:schemeClr val="accent3">
                      <a:alpha val="100000"/>
                    </a:schemeClr>
                  </a:gs>
                  <a:gs pos="100000">
                    <a:schemeClr val="accent3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45" name="直接连接符 67"/>
          <p:cNvCxnSpPr/>
          <p:nvPr>
            <p:custDataLst>
              <p:tags r:id="rId21"/>
            </p:custDataLst>
          </p:nvPr>
        </p:nvCxnSpPr>
        <p:spPr>
          <a:xfrm>
            <a:off x="7309958" y="4005655"/>
            <a:ext cx="0" cy="537909"/>
          </a:xfrm>
          <a:prstGeom prst="line">
            <a:avLst/>
          </a:prstGeom>
          <a:ln w="15875">
            <a:gradFill>
              <a:gsLst>
                <a:gs pos="0">
                  <a:schemeClr val="accent3">
                    <a:alpha val="10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2"/>
          <p:cNvSpPr/>
          <p:nvPr>
            <p:custDataLst>
              <p:tags r:id="rId22"/>
            </p:custDataLst>
          </p:nvPr>
        </p:nvSpPr>
        <p:spPr>
          <a:xfrm>
            <a:off x="9457788" y="2933009"/>
            <a:ext cx="558842" cy="558842"/>
          </a:xfrm>
          <a:prstGeom prst="ellipse">
            <a:avLst/>
          </a:prstGeom>
          <a:gradFill flip="none" rotWithShape="1">
            <a:gsLst>
              <a:gs pos="75000">
                <a:schemeClr val="accent4">
                  <a:alpha val="100000"/>
                </a:schemeClr>
              </a:gs>
              <a:gs pos="0">
                <a:schemeClr val="accent4">
                  <a:lumMod val="60000"/>
                  <a:lumOff val="40000"/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01600" sx="102000" sy="102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思源黑体 CN Regular" panose="020B0500000000000000" charset="-122"/>
              <a:cs typeface="+mn-cs"/>
            </a:endParaRPr>
          </a:p>
        </p:txBody>
      </p:sp>
      <p:sp>
        <p:nvSpPr>
          <p:cNvPr id="47" name="椭圆 70"/>
          <p:cNvSpPr/>
          <p:nvPr>
            <p:custDataLst>
              <p:tags r:id="rId23"/>
            </p:custDataLst>
          </p:nvPr>
        </p:nvSpPr>
        <p:spPr>
          <a:xfrm>
            <a:off x="9408310" y="2883532"/>
            <a:ext cx="657162" cy="657162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4">
                    <a:alpha val="100000"/>
                  </a:schemeClr>
                </a:gs>
                <a:gs pos="86000">
                  <a:schemeClr val="accent4">
                    <a:alpha val="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Oval 11+"/>
          <p:cNvSpPr/>
          <p:nvPr>
            <p:custDataLst>
              <p:tags r:id="rId24"/>
            </p:custDataLst>
          </p:nvPr>
        </p:nvSpPr>
        <p:spPr>
          <a:xfrm>
            <a:off x="9344243" y="2818831"/>
            <a:ext cx="786565" cy="786565"/>
          </a:xfrm>
          <a:prstGeom prst="ellipse">
            <a:avLst/>
          </a:prstGeom>
          <a:noFill/>
          <a:ln w="6350">
            <a:gradFill flip="none" rotWithShape="1">
              <a:gsLst>
                <a:gs pos="0">
                  <a:schemeClr val="accent4">
                    <a:alpha val="100000"/>
                  </a:schemeClr>
                </a:gs>
                <a:gs pos="86000">
                  <a:schemeClr val="accent4">
                    <a:alpha val="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9" name="矩形 9"/>
          <p:cNvSpPr/>
          <p:nvPr>
            <p:custDataLst>
              <p:tags r:id="rId25"/>
            </p:custDataLst>
          </p:nvPr>
        </p:nvSpPr>
        <p:spPr>
          <a:xfrm>
            <a:off x="8985214" y="4728153"/>
            <a:ext cx="1504622" cy="10491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提升下游任务可用性</a:t>
            </a:r>
            <a:r>
              <a:rPr lang="en-US" altLang="zh-CN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,</a:t>
            </a:r>
            <a:r>
              <a:rPr lang="zh-CN" altLang="en-US" sz="1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而非仅主观观感提升</a:t>
            </a:r>
            <a:endParaRPr lang="zh-CN" altLang="en-US" sz="13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50" name="矩形 14"/>
          <p:cNvSpPr/>
          <p:nvPr>
            <p:custDataLst>
              <p:tags r:id="rId26"/>
            </p:custDataLst>
          </p:nvPr>
        </p:nvSpPr>
        <p:spPr>
          <a:xfrm>
            <a:off x="8985214" y="4230841"/>
            <a:ext cx="1504622" cy="36790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36000">
                      <a:schemeClr val="accent4">
                        <a:alpha val="100000"/>
                      </a:schemeClr>
                    </a:gs>
                    <a:gs pos="100000">
                      <a:schemeClr val="accent4">
                        <a:lumMod val="60000"/>
                        <a:lumOff val="40000"/>
                        <a:alpha val="100000"/>
                      </a:schemeClr>
                    </a:gs>
                  </a:gsLst>
                  <a:lin ang="5400000" scaled="1"/>
                  <a:tileRect/>
                </a:gradFill>
                <a:latin typeface="+mn-ea"/>
                <a:cs typeface="+mn-ea"/>
              </a:rPr>
              <a:t>价值导向</a:t>
            </a:r>
            <a:endParaRPr lang="zh-CN" altLang="en-US" sz="2000" b="1">
              <a:gradFill flip="none" rotWithShape="1">
                <a:gsLst>
                  <a:gs pos="36000">
                    <a:schemeClr val="accent4">
                      <a:alpha val="100000"/>
                    </a:schemeClr>
                  </a:gs>
                  <a:gs pos="100000">
                    <a:schemeClr val="accent4">
                      <a:lumMod val="60000"/>
                      <a:lumOff val="40000"/>
                      <a:alpha val="100000"/>
                    </a:schemeClr>
                  </a:gs>
                </a:gsLst>
                <a:lin ang="5400000" scaled="1"/>
                <a:tileRect/>
              </a:gradFill>
              <a:latin typeface="+mn-ea"/>
              <a:cs typeface="+mn-ea"/>
            </a:endParaRPr>
          </a:p>
        </p:txBody>
      </p:sp>
      <p:cxnSp>
        <p:nvCxnSpPr>
          <p:cNvPr id="51" name="直接连接符 75"/>
          <p:cNvCxnSpPr/>
          <p:nvPr>
            <p:custDataLst>
              <p:tags r:id="rId27"/>
            </p:custDataLst>
          </p:nvPr>
        </p:nvCxnSpPr>
        <p:spPr>
          <a:xfrm>
            <a:off x="9737526" y="3606030"/>
            <a:ext cx="0" cy="537909"/>
          </a:xfrm>
          <a:prstGeom prst="line">
            <a:avLst/>
          </a:prstGeom>
          <a:ln w="15875">
            <a:gradFill>
              <a:gsLst>
                <a:gs pos="0">
                  <a:schemeClr val="accent4">
                    <a:alpha val="100000"/>
                  </a:schemeClr>
                </a:gs>
                <a:gs pos="100000">
                  <a:schemeClr val="accent4">
                    <a:alpha val="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任意多边形: 形状 114"/>
          <p:cNvSpPr/>
          <p:nvPr>
            <p:custDataLst>
              <p:tags r:id="rId28"/>
            </p:custDataLst>
          </p:nvPr>
        </p:nvSpPr>
        <p:spPr>
          <a:xfrm>
            <a:off x="614009" y="1765215"/>
            <a:ext cx="10957564" cy="1161974"/>
          </a:xfrm>
          <a:custGeom>
            <a:avLst/>
            <a:gdLst>
              <a:gd name="connsiteX0" fmla="*/ 0 w 10969200"/>
              <a:gd name="connsiteY0" fmla="*/ 0 h 1163208"/>
              <a:gd name="connsiteX1" fmla="*/ 101222 w 10969200"/>
              <a:gd name="connsiteY1" fmla="*/ 47044 h 1163208"/>
              <a:gd name="connsiteX2" fmla="*/ 5497991 w 10969200"/>
              <a:gd name="connsiteY2" fmla="*/ 991286 h 1163208"/>
              <a:gd name="connsiteX3" fmla="*/ 10894757 w 10969200"/>
              <a:gd name="connsiteY3" fmla="*/ 47044 h 1163208"/>
              <a:gd name="connsiteX4" fmla="*/ 10969200 w 10969200"/>
              <a:gd name="connsiteY4" fmla="*/ 12446 h 1163208"/>
              <a:gd name="connsiteX5" fmla="*/ 10969200 w 10969200"/>
              <a:gd name="connsiteY5" fmla="*/ 140199 h 1163208"/>
              <a:gd name="connsiteX6" fmla="*/ 10802207 w 10969200"/>
              <a:gd name="connsiteY6" fmla="*/ 218966 h 1163208"/>
              <a:gd name="connsiteX7" fmla="*/ 5484603 w 10969200"/>
              <a:gd name="connsiteY7" fmla="*/ 1163208 h 1163208"/>
              <a:gd name="connsiteX8" fmla="*/ 166996 w 10969200"/>
              <a:gd name="connsiteY8" fmla="*/ 218966 h 1163208"/>
              <a:gd name="connsiteX9" fmla="*/ 0 w 10969200"/>
              <a:gd name="connsiteY9" fmla="*/ 140197 h 116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969200" h="1163208">
                <a:moveTo>
                  <a:pt x="0" y="0"/>
                </a:moveTo>
                <a:lnTo>
                  <a:pt x="101222" y="47044"/>
                </a:lnTo>
                <a:cubicBezTo>
                  <a:pt x="1482377" y="630445"/>
                  <a:pt x="3390422" y="991286"/>
                  <a:pt x="5497991" y="991286"/>
                </a:cubicBezTo>
                <a:cubicBezTo>
                  <a:pt x="7605559" y="991286"/>
                  <a:pt x="9513604" y="630445"/>
                  <a:pt x="10894757" y="47044"/>
                </a:cubicBezTo>
                <a:lnTo>
                  <a:pt x="10969200" y="12446"/>
                </a:lnTo>
                <a:lnTo>
                  <a:pt x="10969200" y="140199"/>
                </a:lnTo>
                <a:lnTo>
                  <a:pt x="10802207" y="218966"/>
                </a:lnTo>
                <a:cubicBezTo>
                  <a:pt x="9441313" y="802367"/>
                  <a:pt x="7561256" y="1163208"/>
                  <a:pt x="5484603" y="1163208"/>
                </a:cubicBezTo>
                <a:cubicBezTo>
                  <a:pt x="3407948" y="1163208"/>
                  <a:pt x="1527891" y="802367"/>
                  <a:pt x="166996" y="218966"/>
                </a:cubicBezTo>
                <a:lnTo>
                  <a:pt x="0" y="140197"/>
                </a:lnTo>
                <a:close/>
              </a:path>
            </a:pathLst>
          </a:custGeom>
          <a:gradFill flip="none" rotWithShape="1">
            <a:gsLst>
              <a:gs pos="90000">
                <a:schemeClr val="accent1">
                  <a:alpha val="0"/>
                </a:schemeClr>
              </a:gs>
              <a:gs pos="50000">
                <a:schemeClr val="accent1">
                  <a:alpha val="18000"/>
                </a:schemeClr>
              </a:gs>
              <a:gs pos="1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pic>
        <p:nvPicPr>
          <p:cNvPr id="53" name="图形 15" descr="343538343130363b343538383237363bb6feceacc2e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310832" y="3068755"/>
            <a:ext cx="287694" cy="287694"/>
          </a:xfrm>
          <a:prstGeom prst="rect">
            <a:avLst/>
          </a:prstGeom>
          <a:effectLst>
            <a:outerShdw blurRad="88900" dist="25400" dir="2700000" algn="tl" rotWithShape="0">
              <a:schemeClr val="accent1">
                <a:alpha val="30000"/>
              </a:schemeClr>
            </a:outerShdw>
          </a:effectLst>
        </p:spPr>
      </p:pic>
      <p:pic>
        <p:nvPicPr>
          <p:cNvPr id="54" name="图形 17" descr="343538343130363b343538383334313bb1fdd7b4cdbc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738399" y="3469015"/>
            <a:ext cx="287694" cy="287694"/>
          </a:xfrm>
          <a:prstGeom prst="rect">
            <a:avLst/>
          </a:prstGeom>
          <a:effectLst>
            <a:outerShdw blurRad="88900" dist="25400" dir="2700000" algn="tl" rotWithShape="0">
              <a:schemeClr val="accent2">
                <a:alpha val="30000"/>
              </a:schemeClr>
            </a:outerShdw>
          </a:effectLst>
        </p:spPr>
      </p:pic>
      <p:pic>
        <p:nvPicPr>
          <p:cNvPr id="55" name="图形 18" descr="343538343130363b343538383330313bcad7d2b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165966" y="3469015"/>
            <a:ext cx="287694" cy="287694"/>
          </a:xfrm>
          <a:prstGeom prst="rect">
            <a:avLst/>
          </a:prstGeom>
          <a:effectLst>
            <a:outerShdw blurRad="88900" dist="25400" dir="2700000" algn="tl" rotWithShape="0">
              <a:schemeClr val="accent3">
                <a:alpha val="30000"/>
              </a:schemeClr>
            </a:outerShdw>
          </a:effectLst>
        </p:spPr>
      </p:pic>
      <p:pic>
        <p:nvPicPr>
          <p:cNvPr id="56" name="图形 21" descr="343538343130363b343538383331323bcdb6d3b0d2c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593533" y="3068755"/>
            <a:ext cx="287694" cy="287694"/>
          </a:xfrm>
          <a:prstGeom prst="rect">
            <a:avLst/>
          </a:prstGeom>
          <a:effectLst>
            <a:outerShdw blurRad="88900" dist="25400" dir="2700000" algn="tl" rotWithShape="0">
              <a:schemeClr val="accent4">
                <a:alpha val="30000"/>
              </a:schemeClr>
            </a:outerShdw>
          </a:effectLst>
        </p:spPr>
      </p:pic>
      <p:sp>
        <p:nvSpPr>
          <p:cNvPr id="2" name="标题 16"/>
          <p:cNvSpPr>
            <a:spLocks noGrp="1"/>
          </p:cNvSpPr>
          <p:nvPr>
            <p:custDataLst>
              <p:tags r:id="rId41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作品介绍与应用场景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32"/>
          <p:cNvSpPr/>
          <p:nvPr>
            <p:custDataLst>
              <p:tags r:id="rId1"/>
            </p:custDataLst>
          </p:nvPr>
        </p:nvSpPr>
        <p:spPr>
          <a:xfrm flipH="1">
            <a:off x="5181230" y="4551729"/>
            <a:ext cx="1829038" cy="1828905"/>
          </a:xfrm>
          <a:prstGeom prst="roundRect">
            <a:avLst>
              <a:gd name="adj" fmla="val 17214"/>
            </a:avLst>
          </a:prstGeom>
          <a:gradFill flip="none" rotWithShape="0">
            <a:gsLst>
              <a:gs pos="95000">
                <a:schemeClr val="accent5">
                  <a:lumMod val="20000"/>
                  <a:lumOff val="80000"/>
                  <a:alpha val="0"/>
                </a:schemeClr>
              </a:gs>
              <a:gs pos="30000">
                <a:schemeClr val="accent5">
                  <a:lumMod val="60000"/>
                  <a:lumOff val="40000"/>
                  <a:alpha val="20000"/>
                </a:schemeClr>
              </a:gs>
            </a:gsLst>
            <a:lin ang="18900000" scaled="0"/>
            <a:tileRect/>
          </a:gradFill>
          <a:ln w="34925" cmpd="sng">
            <a:gradFill flip="none" rotWithShape="1">
              <a:gsLst>
                <a:gs pos="55000">
                  <a:schemeClr val="accent5">
                    <a:alpha val="0"/>
                  </a:schemeClr>
                </a:gs>
                <a:gs pos="100000">
                  <a:schemeClr val="accent5">
                    <a:alpha val="4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52400" dist="304800" dir="8700000" algn="t" rotWithShape="0">
              <a:schemeClr val="accent5">
                <a:alpha val="29000"/>
              </a:schemeClr>
            </a:outerShdw>
          </a:effectLst>
          <a:scene3d>
            <a:camera prst="isometricTopUp"/>
            <a:lightRig rig="threePt" dir="t"/>
          </a:scene3d>
          <a:sp3d prstMaterial="metal"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4" name="Freeform 488"/>
          <p:cNvSpPr/>
          <p:nvPr>
            <p:custDataLst>
              <p:tags r:id="rId2"/>
            </p:custDataLst>
          </p:nvPr>
        </p:nvSpPr>
        <p:spPr>
          <a:xfrm>
            <a:off x="4616001" y="5172783"/>
            <a:ext cx="549443" cy="627458"/>
          </a:xfrm>
          <a:custGeom>
            <a:avLst/>
            <a:gdLst>
              <a:gd name="connsiteX0" fmla="*/ 534844 w 1166285"/>
              <a:gd name="connsiteY0" fmla="*/ 11393 h 1315046"/>
              <a:gd name="connsiteX1" fmla="*/ 59701 w 1166285"/>
              <a:gd name="connsiteY1" fmla="*/ 248964 h 1315046"/>
              <a:gd name="connsiteX2" fmla="*/ 0 w 1166285"/>
              <a:gd name="connsiteY2" fmla="*/ 345563 h 1315046"/>
              <a:gd name="connsiteX3" fmla="*/ 0 w 1166285"/>
              <a:gd name="connsiteY3" fmla="*/ 969484 h 1315046"/>
              <a:gd name="connsiteX4" fmla="*/ 59701 w 1166285"/>
              <a:gd name="connsiteY4" fmla="*/ 1066083 h 1315046"/>
              <a:gd name="connsiteX5" fmla="*/ 534844 w 1166285"/>
              <a:gd name="connsiteY5" fmla="*/ 1303654 h 1315046"/>
              <a:gd name="connsiteX6" fmla="*/ 631443 w 1166285"/>
              <a:gd name="connsiteY6" fmla="*/ 1303654 h 1315046"/>
              <a:gd name="connsiteX7" fmla="*/ 1106584 w 1166285"/>
              <a:gd name="connsiteY7" fmla="*/ 1066083 h 1315046"/>
              <a:gd name="connsiteX8" fmla="*/ 1166285 w 1166285"/>
              <a:gd name="connsiteY8" fmla="*/ 969484 h 1315046"/>
              <a:gd name="connsiteX9" fmla="*/ 1166285 w 1166285"/>
              <a:gd name="connsiteY9" fmla="*/ 345562 h 1315046"/>
              <a:gd name="connsiteX10" fmla="*/ 1106584 w 1166285"/>
              <a:gd name="connsiteY10" fmla="*/ 248964 h 1315046"/>
              <a:gd name="connsiteX11" fmla="*/ 631443 w 1166285"/>
              <a:gd name="connsiteY11" fmla="*/ 11393 h 1315046"/>
              <a:gd name="connsiteX12" fmla="*/ 534844 w 1166285"/>
              <a:gd name="connsiteY12" fmla="*/ 11393 h 131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66285" h="1315046">
                <a:moveTo>
                  <a:pt x="534844" y="11393"/>
                </a:moveTo>
                <a:lnTo>
                  <a:pt x="59701" y="248964"/>
                </a:lnTo>
                <a:cubicBezTo>
                  <a:pt x="23104" y="267263"/>
                  <a:pt x="0" y="304646"/>
                  <a:pt x="0" y="345563"/>
                </a:cubicBezTo>
                <a:lnTo>
                  <a:pt x="0" y="969484"/>
                </a:lnTo>
                <a:cubicBezTo>
                  <a:pt x="0" y="1010401"/>
                  <a:pt x="23104" y="1047784"/>
                  <a:pt x="59701" y="1066083"/>
                </a:cubicBezTo>
                <a:lnTo>
                  <a:pt x="534844" y="1303654"/>
                </a:lnTo>
                <a:cubicBezTo>
                  <a:pt x="565224" y="1318844"/>
                  <a:pt x="601062" y="1318844"/>
                  <a:pt x="631443" y="1303654"/>
                </a:cubicBezTo>
                <a:lnTo>
                  <a:pt x="1106584" y="1066083"/>
                </a:lnTo>
                <a:cubicBezTo>
                  <a:pt x="1143181" y="1047784"/>
                  <a:pt x="1166285" y="1010401"/>
                  <a:pt x="1166285" y="969484"/>
                </a:cubicBezTo>
                <a:lnTo>
                  <a:pt x="1166285" y="345562"/>
                </a:lnTo>
                <a:cubicBezTo>
                  <a:pt x="1166285" y="304646"/>
                  <a:pt x="1143181" y="267263"/>
                  <a:pt x="1106584" y="248964"/>
                </a:cubicBezTo>
                <a:lnTo>
                  <a:pt x="631443" y="11393"/>
                </a:lnTo>
                <a:cubicBezTo>
                  <a:pt x="601062" y="-3797"/>
                  <a:pt x="565224" y="-3797"/>
                  <a:pt x="534844" y="11393"/>
                </a:cubicBezTo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100000"/>
                </a:schemeClr>
              </a:gs>
              <a:gs pos="100000">
                <a:schemeClr val="accent5">
                  <a:alpha val="100000"/>
                </a:schemeClr>
              </a:gs>
            </a:gsLst>
            <a:lin ang="2700000" scaled="0"/>
          </a:gradFill>
          <a:ln w="9525" cap="flat">
            <a:noFill/>
            <a:prstDash val="solid"/>
            <a:miter/>
          </a:ln>
          <a:effectLst>
            <a:outerShdw blurRad="152400" dist="76200" dir="2700000" algn="tl" rotWithShape="0">
              <a:schemeClr val="accent5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/>
            <a:r>
              <a:rPr lang="en-US" altLang="zh-CN" b="1" dirty="0">
                <a:solidFill>
                  <a:srgbClr val="FFFFFF"/>
                </a:solidFill>
                <a:latin typeface="+mn-ea"/>
              </a:rPr>
              <a:t>05</a:t>
            </a:r>
            <a:endParaRPr lang="en-US" altLang="zh-CN" b="1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9" name="直接连接符 35"/>
          <p:cNvCxnSpPr/>
          <p:nvPr>
            <p:custDataLst>
              <p:tags r:id="rId3"/>
            </p:custDataLst>
          </p:nvPr>
        </p:nvCxnSpPr>
        <p:spPr>
          <a:xfrm>
            <a:off x="3826204" y="5485530"/>
            <a:ext cx="791221" cy="0"/>
          </a:xfrm>
          <a:prstGeom prst="line">
            <a:avLst/>
          </a:prstGeom>
          <a:ln w="9525">
            <a:gradFill>
              <a:gsLst>
                <a:gs pos="0">
                  <a:schemeClr val="accent5">
                    <a:alpha val="100000"/>
                  </a:schemeClr>
                </a:gs>
                <a:gs pos="100000">
                  <a:schemeClr val="accent5">
                    <a:lumMod val="60000"/>
                    <a:lumOff val="40000"/>
                    <a:alpha val="100000"/>
                  </a:scheme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"/>
          <p:cNvSpPr/>
          <p:nvPr>
            <p:custDataLst>
              <p:tags r:id="rId4"/>
            </p:custDataLst>
          </p:nvPr>
        </p:nvSpPr>
        <p:spPr>
          <a:xfrm flipH="1">
            <a:off x="5181230" y="3843766"/>
            <a:ext cx="1829038" cy="1828905"/>
          </a:xfrm>
          <a:prstGeom prst="roundRect">
            <a:avLst>
              <a:gd name="adj" fmla="val 17214"/>
            </a:avLst>
          </a:prstGeom>
          <a:gradFill flip="none" rotWithShape="0">
            <a:gsLst>
              <a:gs pos="100000">
                <a:schemeClr val="accent4">
                  <a:lumMod val="20000"/>
                  <a:lumOff val="80000"/>
                  <a:alpha val="0"/>
                </a:schemeClr>
              </a:gs>
              <a:gs pos="30000">
                <a:schemeClr val="accent4">
                  <a:lumMod val="60000"/>
                  <a:lumOff val="40000"/>
                  <a:alpha val="20000"/>
                </a:schemeClr>
              </a:gs>
            </a:gsLst>
            <a:lin ang="18900000" scaled="0"/>
            <a:tileRect/>
          </a:gradFill>
          <a:ln w="34925">
            <a:gradFill flip="none" rotWithShape="1">
              <a:gsLst>
                <a:gs pos="55000">
                  <a:schemeClr val="accent4">
                    <a:alpha val="0"/>
                  </a:schemeClr>
                </a:gs>
                <a:gs pos="100000">
                  <a:schemeClr val="accent4">
                    <a:alpha val="100000"/>
                  </a:schemeClr>
                </a:gs>
              </a:gsLst>
              <a:lin ang="2700000" scaled="1"/>
              <a:tileRect/>
            </a:gradFill>
          </a:ln>
          <a:effectLst/>
          <a:scene3d>
            <a:camera prst="isometricTopUp"/>
            <a:lightRig rig="threePt" dir="t"/>
          </a:scene3d>
          <a:sp3d prstMaterial="metal"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4" name="Freeform 488"/>
          <p:cNvSpPr/>
          <p:nvPr>
            <p:custDataLst>
              <p:tags r:id="rId5"/>
            </p:custDataLst>
          </p:nvPr>
        </p:nvSpPr>
        <p:spPr>
          <a:xfrm>
            <a:off x="6996814" y="4490195"/>
            <a:ext cx="549443" cy="627458"/>
          </a:xfrm>
          <a:custGeom>
            <a:avLst/>
            <a:gdLst>
              <a:gd name="connsiteX0" fmla="*/ 534844 w 1166285"/>
              <a:gd name="connsiteY0" fmla="*/ 11393 h 1315046"/>
              <a:gd name="connsiteX1" fmla="*/ 59701 w 1166285"/>
              <a:gd name="connsiteY1" fmla="*/ 248964 h 1315046"/>
              <a:gd name="connsiteX2" fmla="*/ 0 w 1166285"/>
              <a:gd name="connsiteY2" fmla="*/ 345563 h 1315046"/>
              <a:gd name="connsiteX3" fmla="*/ 0 w 1166285"/>
              <a:gd name="connsiteY3" fmla="*/ 969484 h 1315046"/>
              <a:gd name="connsiteX4" fmla="*/ 59701 w 1166285"/>
              <a:gd name="connsiteY4" fmla="*/ 1066083 h 1315046"/>
              <a:gd name="connsiteX5" fmla="*/ 534844 w 1166285"/>
              <a:gd name="connsiteY5" fmla="*/ 1303654 h 1315046"/>
              <a:gd name="connsiteX6" fmla="*/ 631443 w 1166285"/>
              <a:gd name="connsiteY6" fmla="*/ 1303654 h 1315046"/>
              <a:gd name="connsiteX7" fmla="*/ 1106584 w 1166285"/>
              <a:gd name="connsiteY7" fmla="*/ 1066083 h 1315046"/>
              <a:gd name="connsiteX8" fmla="*/ 1166285 w 1166285"/>
              <a:gd name="connsiteY8" fmla="*/ 969484 h 1315046"/>
              <a:gd name="connsiteX9" fmla="*/ 1166285 w 1166285"/>
              <a:gd name="connsiteY9" fmla="*/ 345562 h 1315046"/>
              <a:gd name="connsiteX10" fmla="*/ 1106584 w 1166285"/>
              <a:gd name="connsiteY10" fmla="*/ 248964 h 1315046"/>
              <a:gd name="connsiteX11" fmla="*/ 631443 w 1166285"/>
              <a:gd name="connsiteY11" fmla="*/ 11393 h 1315046"/>
              <a:gd name="connsiteX12" fmla="*/ 534844 w 1166285"/>
              <a:gd name="connsiteY12" fmla="*/ 11393 h 131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66285" h="1315046">
                <a:moveTo>
                  <a:pt x="534844" y="11393"/>
                </a:moveTo>
                <a:lnTo>
                  <a:pt x="59701" y="248964"/>
                </a:lnTo>
                <a:cubicBezTo>
                  <a:pt x="23104" y="267263"/>
                  <a:pt x="0" y="304646"/>
                  <a:pt x="0" y="345563"/>
                </a:cubicBezTo>
                <a:lnTo>
                  <a:pt x="0" y="969484"/>
                </a:lnTo>
                <a:cubicBezTo>
                  <a:pt x="0" y="1010401"/>
                  <a:pt x="23104" y="1047784"/>
                  <a:pt x="59701" y="1066083"/>
                </a:cubicBezTo>
                <a:lnTo>
                  <a:pt x="534844" y="1303654"/>
                </a:lnTo>
                <a:cubicBezTo>
                  <a:pt x="565224" y="1318844"/>
                  <a:pt x="601062" y="1318844"/>
                  <a:pt x="631443" y="1303654"/>
                </a:cubicBezTo>
                <a:lnTo>
                  <a:pt x="1106584" y="1066083"/>
                </a:lnTo>
                <a:cubicBezTo>
                  <a:pt x="1143181" y="1047784"/>
                  <a:pt x="1166285" y="1010401"/>
                  <a:pt x="1166285" y="969484"/>
                </a:cubicBezTo>
                <a:lnTo>
                  <a:pt x="1166285" y="345562"/>
                </a:lnTo>
                <a:cubicBezTo>
                  <a:pt x="1166285" y="304646"/>
                  <a:pt x="1143181" y="267263"/>
                  <a:pt x="1106584" y="248964"/>
                </a:cubicBezTo>
                <a:lnTo>
                  <a:pt x="631443" y="11393"/>
                </a:lnTo>
                <a:cubicBezTo>
                  <a:pt x="601062" y="-3797"/>
                  <a:pt x="565224" y="-3797"/>
                  <a:pt x="534844" y="11393"/>
                </a:cubicBezTo>
              </a:path>
            </a:pathLst>
          </a:cu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2700000" scaled="0"/>
          </a:gradFill>
          <a:ln w="9525" cap="flat">
            <a:noFill/>
            <a:prstDash val="solid"/>
            <a:miter/>
          </a:ln>
          <a:effectLst>
            <a:outerShdw blurRad="152400" dist="76200" dir="2700000" algn="tl" rotWithShape="0">
              <a:schemeClr val="accent4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lvl="0" algn="ctr">
              <a:buClrTx/>
              <a:buSzTx/>
              <a:buFontTx/>
            </a:pPr>
            <a:r>
              <a:rPr lang="en-US" altLang="zh-CN" b="1" dirty="0">
                <a:solidFill>
                  <a:srgbClr val="FFFFFF"/>
                </a:solidFill>
                <a:latin typeface="+mn-ea"/>
                <a:sym typeface="+mn-ea"/>
              </a:rPr>
              <a:t>04</a:t>
            </a:r>
            <a:endParaRPr lang="en-US" altLang="zh-CN" b="1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cxnSp>
        <p:nvCxnSpPr>
          <p:cNvPr id="16" name="直接连接符 3"/>
          <p:cNvCxnSpPr/>
          <p:nvPr>
            <p:custDataLst>
              <p:tags r:id="rId6"/>
            </p:custDataLst>
          </p:nvPr>
        </p:nvCxnSpPr>
        <p:spPr>
          <a:xfrm flipH="1">
            <a:off x="7549990" y="4806748"/>
            <a:ext cx="791221" cy="0"/>
          </a:xfrm>
          <a:prstGeom prst="line">
            <a:avLst/>
          </a:prstGeom>
          <a:ln w="9525">
            <a:gradFill>
              <a:gsLst>
                <a:gs pos="0">
                  <a:schemeClr val="accent4">
                    <a:alpha val="100000"/>
                  </a:schemeClr>
                </a:gs>
                <a:gs pos="100000">
                  <a:schemeClr val="accent4">
                    <a:lumMod val="60000"/>
                    <a:lumOff val="40000"/>
                    <a:alpha val="100000"/>
                  </a:scheme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0"/>
          <p:cNvSpPr/>
          <p:nvPr>
            <p:custDataLst>
              <p:tags r:id="rId7"/>
            </p:custDataLst>
          </p:nvPr>
        </p:nvSpPr>
        <p:spPr>
          <a:xfrm flipH="1">
            <a:off x="5181230" y="3135803"/>
            <a:ext cx="1829038" cy="1828905"/>
          </a:xfrm>
          <a:prstGeom prst="roundRect">
            <a:avLst>
              <a:gd name="adj" fmla="val 17214"/>
            </a:avLst>
          </a:prstGeom>
          <a:gradFill flip="none" rotWithShape="0">
            <a:gsLst>
              <a:gs pos="100000">
                <a:schemeClr val="accent3">
                  <a:lumMod val="20000"/>
                  <a:lumOff val="80000"/>
                  <a:alpha val="0"/>
                </a:schemeClr>
              </a:gs>
              <a:gs pos="30000">
                <a:schemeClr val="accent3">
                  <a:lumMod val="60000"/>
                  <a:lumOff val="40000"/>
                  <a:alpha val="20000"/>
                </a:schemeClr>
              </a:gs>
            </a:gsLst>
            <a:lin ang="18900000" scaled="0"/>
            <a:tileRect/>
          </a:gradFill>
          <a:ln w="34925">
            <a:gradFill flip="none" rotWithShape="1">
              <a:gsLst>
                <a:gs pos="55000">
                  <a:schemeClr val="accent3">
                    <a:alpha val="0"/>
                  </a:schemeClr>
                </a:gs>
                <a:gs pos="100000">
                  <a:schemeClr val="accent3">
                    <a:alpha val="40000"/>
                  </a:schemeClr>
                </a:gs>
              </a:gsLst>
              <a:lin ang="2700000" scaled="1"/>
              <a:tileRect/>
            </a:gradFill>
          </a:ln>
          <a:effectLst/>
          <a:scene3d>
            <a:camera prst="isometricTopUp"/>
            <a:lightRig rig="threePt" dir="t"/>
          </a:scene3d>
          <a:sp3d prstMaterial="metal"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0" name="Freeform 488"/>
          <p:cNvSpPr/>
          <p:nvPr>
            <p:custDataLst>
              <p:tags r:id="rId8"/>
            </p:custDataLst>
          </p:nvPr>
        </p:nvSpPr>
        <p:spPr>
          <a:xfrm>
            <a:off x="4616001" y="3772716"/>
            <a:ext cx="549443" cy="627458"/>
          </a:xfrm>
          <a:custGeom>
            <a:avLst/>
            <a:gdLst>
              <a:gd name="connsiteX0" fmla="*/ 534844 w 1166285"/>
              <a:gd name="connsiteY0" fmla="*/ 11393 h 1315046"/>
              <a:gd name="connsiteX1" fmla="*/ 59701 w 1166285"/>
              <a:gd name="connsiteY1" fmla="*/ 248964 h 1315046"/>
              <a:gd name="connsiteX2" fmla="*/ 0 w 1166285"/>
              <a:gd name="connsiteY2" fmla="*/ 345563 h 1315046"/>
              <a:gd name="connsiteX3" fmla="*/ 0 w 1166285"/>
              <a:gd name="connsiteY3" fmla="*/ 969484 h 1315046"/>
              <a:gd name="connsiteX4" fmla="*/ 59701 w 1166285"/>
              <a:gd name="connsiteY4" fmla="*/ 1066083 h 1315046"/>
              <a:gd name="connsiteX5" fmla="*/ 534844 w 1166285"/>
              <a:gd name="connsiteY5" fmla="*/ 1303654 h 1315046"/>
              <a:gd name="connsiteX6" fmla="*/ 631443 w 1166285"/>
              <a:gd name="connsiteY6" fmla="*/ 1303654 h 1315046"/>
              <a:gd name="connsiteX7" fmla="*/ 1106584 w 1166285"/>
              <a:gd name="connsiteY7" fmla="*/ 1066083 h 1315046"/>
              <a:gd name="connsiteX8" fmla="*/ 1166285 w 1166285"/>
              <a:gd name="connsiteY8" fmla="*/ 969484 h 1315046"/>
              <a:gd name="connsiteX9" fmla="*/ 1166285 w 1166285"/>
              <a:gd name="connsiteY9" fmla="*/ 345562 h 1315046"/>
              <a:gd name="connsiteX10" fmla="*/ 1106584 w 1166285"/>
              <a:gd name="connsiteY10" fmla="*/ 248964 h 1315046"/>
              <a:gd name="connsiteX11" fmla="*/ 631443 w 1166285"/>
              <a:gd name="connsiteY11" fmla="*/ 11393 h 1315046"/>
              <a:gd name="connsiteX12" fmla="*/ 534844 w 1166285"/>
              <a:gd name="connsiteY12" fmla="*/ 11393 h 131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66285" h="1315046">
                <a:moveTo>
                  <a:pt x="534844" y="11393"/>
                </a:moveTo>
                <a:lnTo>
                  <a:pt x="59701" y="248964"/>
                </a:lnTo>
                <a:cubicBezTo>
                  <a:pt x="23104" y="267263"/>
                  <a:pt x="0" y="304646"/>
                  <a:pt x="0" y="345563"/>
                </a:cubicBezTo>
                <a:lnTo>
                  <a:pt x="0" y="969484"/>
                </a:lnTo>
                <a:cubicBezTo>
                  <a:pt x="0" y="1010401"/>
                  <a:pt x="23104" y="1047784"/>
                  <a:pt x="59701" y="1066083"/>
                </a:cubicBezTo>
                <a:lnTo>
                  <a:pt x="534844" y="1303654"/>
                </a:lnTo>
                <a:cubicBezTo>
                  <a:pt x="565224" y="1318844"/>
                  <a:pt x="601062" y="1318844"/>
                  <a:pt x="631443" y="1303654"/>
                </a:cubicBezTo>
                <a:lnTo>
                  <a:pt x="1106584" y="1066083"/>
                </a:lnTo>
                <a:cubicBezTo>
                  <a:pt x="1143181" y="1047784"/>
                  <a:pt x="1166285" y="1010401"/>
                  <a:pt x="1166285" y="969484"/>
                </a:cubicBezTo>
                <a:lnTo>
                  <a:pt x="1166285" y="345562"/>
                </a:lnTo>
                <a:cubicBezTo>
                  <a:pt x="1166285" y="304646"/>
                  <a:pt x="1143181" y="267263"/>
                  <a:pt x="1106584" y="248964"/>
                </a:cubicBezTo>
                <a:lnTo>
                  <a:pt x="631443" y="11393"/>
                </a:lnTo>
                <a:cubicBezTo>
                  <a:pt x="601062" y="-3797"/>
                  <a:pt x="565224" y="-3797"/>
                  <a:pt x="534844" y="11393"/>
                </a:cubicBezTo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2700000" scaled="0"/>
          </a:gradFill>
          <a:ln w="9525" cap="flat">
            <a:noFill/>
            <a:prstDash val="solid"/>
            <a:miter/>
          </a:ln>
          <a:effectLst>
            <a:outerShdw blurRad="152400" dist="76200" dir="2700000" algn="tl" rotWithShape="0">
              <a:schemeClr val="accent3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/>
            <a:r>
              <a:rPr lang="en-US" altLang="zh-CN" b="1" dirty="0">
                <a:solidFill>
                  <a:srgbClr val="FFFFFF"/>
                </a:solidFill>
                <a:latin typeface="+mn-ea"/>
              </a:rPr>
              <a:t>03</a:t>
            </a:r>
            <a:endParaRPr lang="en-US" altLang="zh-CN" b="1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23" name="直接连接符 14"/>
          <p:cNvCxnSpPr/>
          <p:nvPr>
            <p:custDataLst>
              <p:tags r:id="rId9"/>
            </p:custDataLst>
          </p:nvPr>
        </p:nvCxnSpPr>
        <p:spPr>
          <a:xfrm>
            <a:off x="3826204" y="4084829"/>
            <a:ext cx="791221" cy="0"/>
          </a:xfrm>
          <a:prstGeom prst="line">
            <a:avLst/>
          </a:prstGeom>
          <a:ln w="9525">
            <a:gradFill>
              <a:gsLst>
                <a:gs pos="0">
                  <a:schemeClr val="accent3">
                    <a:alpha val="100000"/>
                  </a:schemeClr>
                </a:gs>
                <a:gs pos="100000">
                  <a:schemeClr val="accent3">
                    <a:lumMod val="60000"/>
                    <a:lumOff val="40000"/>
                    <a:alpha val="100000"/>
                  </a:scheme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4"/>
          <p:cNvSpPr/>
          <p:nvPr>
            <p:custDataLst>
              <p:tags r:id="rId10"/>
            </p:custDataLst>
          </p:nvPr>
        </p:nvSpPr>
        <p:spPr>
          <a:xfrm flipH="1">
            <a:off x="5181230" y="2427839"/>
            <a:ext cx="1829038" cy="1828905"/>
          </a:xfrm>
          <a:prstGeom prst="roundRect">
            <a:avLst>
              <a:gd name="adj" fmla="val 17214"/>
            </a:avLst>
          </a:prstGeom>
          <a:gradFill flip="none" rotWithShape="0">
            <a:gsLst>
              <a:gs pos="100000">
                <a:schemeClr val="accent2">
                  <a:lumMod val="20000"/>
                  <a:lumOff val="80000"/>
                  <a:alpha val="0"/>
                </a:schemeClr>
              </a:gs>
              <a:gs pos="30000">
                <a:schemeClr val="accent2">
                  <a:lumMod val="60000"/>
                  <a:lumOff val="40000"/>
                  <a:alpha val="20000"/>
                </a:schemeClr>
              </a:gs>
            </a:gsLst>
            <a:lin ang="18900000" scaled="0"/>
            <a:tileRect/>
          </a:gradFill>
          <a:ln w="34925">
            <a:gradFill flip="none" rotWithShape="1">
              <a:gsLst>
                <a:gs pos="55000">
                  <a:schemeClr val="accent2">
                    <a:alpha val="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2700000" scaled="1"/>
              <a:tileRect/>
            </a:gradFill>
          </a:ln>
          <a:effectLst/>
          <a:scene3d>
            <a:camera prst="isometricTopUp"/>
            <a:lightRig rig="threePt" dir="t"/>
          </a:scene3d>
          <a:sp3d prstMaterial="metal"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29" name="Freeform 488"/>
          <p:cNvSpPr/>
          <p:nvPr>
            <p:custDataLst>
              <p:tags r:id="rId11"/>
            </p:custDataLst>
          </p:nvPr>
        </p:nvSpPr>
        <p:spPr>
          <a:xfrm>
            <a:off x="6996814" y="3059677"/>
            <a:ext cx="549443" cy="627458"/>
          </a:xfrm>
          <a:custGeom>
            <a:avLst/>
            <a:gdLst>
              <a:gd name="connsiteX0" fmla="*/ 534844 w 1166285"/>
              <a:gd name="connsiteY0" fmla="*/ 11393 h 1315046"/>
              <a:gd name="connsiteX1" fmla="*/ 59701 w 1166285"/>
              <a:gd name="connsiteY1" fmla="*/ 248964 h 1315046"/>
              <a:gd name="connsiteX2" fmla="*/ 0 w 1166285"/>
              <a:gd name="connsiteY2" fmla="*/ 345563 h 1315046"/>
              <a:gd name="connsiteX3" fmla="*/ 0 w 1166285"/>
              <a:gd name="connsiteY3" fmla="*/ 969484 h 1315046"/>
              <a:gd name="connsiteX4" fmla="*/ 59701 w 1166285"/>
              <a:gd name="connsiteY4" fmla="*/ 1066083 h 1315046"/>
              <a:gd name="connsiteX5" fmla="*/ 534844 w 1166285"/>
              <a:gd name="connsiteY5" fmla="*/ 1303654 h 1315046"/>
              <a:gd name="connsiteX6" fmla="*/ 631443 w 1166285"/>
              <a:gd name="connsiteY6" fmla="*/ 1303654 h 1315046"/>
              <a:gd name="connsiteX7" fmla="*/ 1106584 w 1166285"/>
              <a:gd name="connsiteY7" fmla="*/ 1066083 h 1315046"/>
              <a:gd name="connsiteX8" fmla="*/ 1166285 w 1166285"/>
              <a:gd name="connsiteY8" fmla="*/ 969484 h 1315046"/>
              <a:gd name="connsiteX9" fmla="*/ 1166285 w 1166285"/>
              <a:gd name="connsiteY9" fmla="*/ 345562 h 1315046"/>
              <a:gd name="connsiteX10" fmla="*/ 1106584 w 1166285"/>
              <a:gd name="connsiteY10" fmla="*/ 248964 h 1315046"/>
              <a:gd name="connsiteX11" fmla="*/ 631443 w 1166285"/>
              <a:gd name="connsiteY11" fmla="*/ 11393 h 1315046"/>
              <a:gd name="connsiteX12" fmla="*/ 534844 w 1166285"/>
              <a:gd name="connsiteY12" fmla="*/ 11393 h 131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66285" h="1315046">
                <a:moveTo>
                  <a:pt x="534844" y="11393"/>
                </a:moveTo>
                <a:lnTo>
                  <a:pt x="59701" y="248964"/>
                </a:lnTo>
                <a:cubicBezTo>
                  <a:pt x="23104" y="267263"/>
                  <a:pt x="0" y="304646"/>
                  <a:pt x="0" y="345563"/>
                </a:cubicBezTo>
                <a:lnTo>
                  <a:pt x="0" y="969484"/>
                </a:lnTo>
                <a:cubicBezTo>
                  <a:pt x="0" y="1010401"/>
                  <a:pt x="23104" y="1047784"/>
                  <a:pt x="59701" y="1066083"/>
                </a:cubicBezTo>
                <a:lnTo>
                  <a:pt x="534844" y="1303654"/>
                </a:lnTo>
                <a:cubicBezTo>
                  <a:pt x="565224" y="1318844"/>
                  <a:pt x="601062" y="1318844"/>
                  <a:pt x="631443" y="1303654"/>
                </a:cubicBezTo>
                <a:lnTo>
                  <a:pt x="1106584" y="1066083"/>
                </a:lnTo>
                <a:cubicBezTo>
                  <a:pt x="1143181" y="1047784"/>
                  <a:pt x="1166285" y="1010401"/>
                  <a:pt x="1166285" y="969484"/>
                </a:cubicBezTo>
                <a:lnTo>
                  <a:pt x="1166285" y="345562"/>
                </a:lnTo>
                <a:cubicBezTo>
                  <a:pt x="1166285" y="304646"/>
                  <a:pt x="1143181" y="267263"/>
                  <a:pt x="1106584" y="248964"/>
                </a:cubicBezTo>
                <a:lnTo>
                  <a:pt x="631443" y="11393"/>
                </a:lnTo>
                <a:cubicBezTo>
                  <a:pt x="601062" y="-3797"/>
                  <a:pt x="565224" y="-3797"/>
                  <a:pt x="534844" y="11393"/>
                </a:cubicBezTo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 w="9525" cap="flat">
            <a:noFill/>
            <a:prstDash val="solid"/>
            <a:miter/>
          </a:ln>
          <a:effectLst>
            <a:outerShdw blurRad="152400" dist="76200" dir="2700000" algn="tl" rotWithShape="0">
              <a:schemeClr val="accent2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lvl="0" algn="ctr">
              <a:buClrTx/>
              <a:buSzTx/>
              <a:buFontTx/>
            </a:pPr>
            <a:r>
              <a:rPr lang="en-US" altLang="zh-CN" b="1" dirty="0">
                <a:solidFill>
                  <a:srgbClr val="FFFFFF"/>
                </a:solidFill>
                <a:latin typeface="+mn-ea"/>
                <a:sym typeface="+mn-ea"/>
              </a:rPr>
              <a:t>02</a:t>
            </a:r>
            <a:endParaRPr lang="en-US" altLang="zh-CN" b="1" dirty="0">
              <a:solidFill>
                <a:srgbClr val="FFFFFF"/>
              </a:solidFill>
              <a:latin typeface="+mn-ea"/>
              <a:sym typeface="+mn-ea"/>
            </a:endParaRPr>
          </a:p>
        </p:txBody>
      </p:sp>
      <p:cxnSp>
        <p:nvCxnSpPr>
          <p:cNvPr id="31" name="直接连接符 6"/>
          <p:cNvCxnSpPr/>
          <p:nvPr>
            <p:custDataLst>
              <p:tags r:id="rId12"/>
            </p:custDataLst>
          </p:nvPr>
        </p:nvCxnSpPr>
        <p:spPr>
          <a:xfrm flipH="1">
            <a:off x="7549990" y="3376231"/>
            <a:ext cx="791221" cy="0"/>
          </a:xfrm>
          <a:prstGeom prst="line">
            <a:avLst/>
          </a:prstGeom>
          <a:ln w="9525">
            <a:gradFill>
              <a:gsLst>
                <a:gs pos="0">
                  <a:schemeClr val="accent2">
                    <a:alpha val="10000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20"/>
          <p:cNvSpPr/>
          <p:nvPr>
            <p:custDataLst>
              <p:tags r:id="rId13"/>
            </p:custDataLst>
          </p:nvPr>
        </p:nvSpPr>
        <p:spPr>
          <a:xfrm flipH="1">
            <a:off x="5181230" y="1719876"/>
            <a:ext cx="1829038" cy="1829038"/>
          </a:xfrm>
          <a:prstGeom prst="roundRect">
            <a:avLst>
              <a:gd name="adj" fmla="val 17214"/>
            </a:avLst>
          </a:prstGeom>
          <a:gradFill flip="none" rotWithShape="0">
            <a:gsLst>
              <a:gs pos="100000">
                <a:schemeClr val="accent1">
                  <a:lumMod val="20000"/>
                  <a:lumOff val="80000"/>
                  <a:alpha val="20000"/>
                </a:schemeClr>
              </a:gs>
              <a:gs pos="4000">
                <a:schemeClr val="accent1">
                  <a:lumMod val="60000"/>
                  <a:lumOff val="40000"/>
                  <a:alpha val="20000"/>
                </a:schemeClr>
              </a:gs>
            </a:gsLst>
            <a:lin ang="18900000" scaled="0"/>
            <a:tileRect/>
          </a:gradFill>
          <a:ln w="34925">
            <a:gradFill flip="none" rotWithShape="1"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2700000" scaled="1"/>
              <a:tileRect/>
            </a:gradFill>
          </a:ln>
          <a:effectLst/>
          <a:scene3d>
            <a:camera prst="isometricTopUp"/>
            <a:lightRig rig="threePt" dir="t"/>
          </a:scene3d>
          <a:sp3d prstMaterial="metal">
            <a:extrusionClr>
              <a:schemeClr val="bg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5" name="Freeform 488"/>
          <p:cNvSpPr/>
          <p:nvPr>
            <p:custDataLst>
              <p:tags r:id="rId14"/>
            </p:custDataLst>
          </p:nvPr>
        </p:nvSpPr>
        <p:spPr>
          <a:xfrm>
            <a:off x="4616001" y="2349177"/>
            <a:ext cx="549443" cy="627458"/>
          </a:xfrm>
          <a:custGeom>
            <a:avLst/>
            <a:gdLst>
              <a:gd name="connsiteX0" fmla="*/ 534844 w 1166285"/>
              <a:gd name="connsiteY0" fmla="*/ 11393 h 1315046"/>
              <a:gd name="connsiteX1" fmla="*/ 59701 w 1166285"/>
              <a:gd name="connsiteY1" fmla="*/ 248964 h 1315046"/>
              <a:gd name="connsiteX2" fmla="*/ 0 w 1166285"/>
              <a:gd name="connsiteY2" fmla="*/ 345563 h 1315046"/>
              <a:gd name="connsiteX3" fmla="*/ 0 w 1166285"/>
              <a:gd name="connsiteY3" fmla="*/ 969484 h 1315046"/>
              <a:gd name="connsiteX4" fmla="*/ 59701 w 1166285"/>
              <a:gd name="connsiteY4" fmla="*/ 1066083 h 1315046"/>
              <a:gd name="connsiteX5" fmla="*/ 534844 w 1166285"/>
              <a:gd name="connsiteY5" fmla="*/ 1303654 h 1315046"/>
              <a:gd name="connsiteX6" fmla="*/ 631443 w 1166285"/>
              <a:gd name="connsiteY6" fmla="*/ 1303654 h 1315046"/>
              <a:gd name="connsiteX7" fmla="*/ 1106584 w 1166285"/>
              <a:gd name="connsiteY7" fmla="*/ 1066083 h 1315046"/>
              <a:gd name="connsiteX8" fmla="*/ 1166285 w 1166285"/>
              <a:gd name="connsiteY8" fmla="*/ 969484 h 1315046"/>
              <a:gd name="connsiteX9" fmla="*/ 1166285 w 1166285"/>
              <a:gd name="connsiteY9" fmla="*/ 345562 h 1315046"/>
              <a:gd name="connsiteX10" fmla="*/ 1106584 w 1166285"/>
              <a:gd name="connsiteY10" fmla="*/ 248964 h 1315046"/>
              <a:gd name="connsiteX11" fmla="*/ 631443 w 1166285"/>
              <a:gd name="connsiteY11" fmla="*/ 11393 h 1315046"/>
              <a:gd name="connsiteX12" fmla="*/ 534844 w 1166285"/>
              <a:gd name="connsiteY12" fmla="*/ 11393 h 1315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66285" h="1315046">
                <a:moveTo>
                  <a:pt x="534844" y="11393"/>
                </a:moveTo>
                <a:lnTo>
                  <a:pt x="59701" y="248964"/>
                </a:lnTo>
                <a:cubicBezTo>
                  <a:pt x="23104" y="267263"/>
                  <a:pt x="0" y="304646"/>
                  <a:pt x="0" y="345563"/>
                </a:cubicBezTo>
                <a:lnTo>
                  <a:pt x="0" y="969484"/>
                </a:lnTo>
                <a:cubicBezTo>
                  <a:pt x="0" y="1010401"/>
                  <a:pt x="23104" y="1047784"/>
                  <a:pt x="59701" y="1066083"/>
                </a:cubicBezTo>
                <a:lnTo>
                  <a:pt x="534844" y="1303654"/>
                </a:lnTo>
                <a:cubicBezTo>
                  <a:pt x="565224" y="1318844"/>
                  <a:pt x="601062" y="1318844"/>
                  <a:pt x="631443" y="1303654"/>
                </a:cubicBezTo>
                <a:lnTo>
                  <a:pt x="1106584" y="1066083"/>
                </a:lnTo>
                <a:cubicBezTo>
                  <a:pt x="1143181" y="1047784"/>
                  <a:pt x="1166285" y="1010401"/>
                  <a:pt x="1166285" y="969484"/>
                </a:cubicBezTo>
                <a:lnTo>
                  <a:pt x="1166285" y="345562"/>
                </a:lnTo>
                <a:cubicBezTo>
                  <a:pt x="1166285" y="304646"/>
                  <a:pt x="1143181" y="267263"/>
                  <a:pt x="1106584" y="248964"/>
                </a:cubicBezTo>
                <a:lnTo>
                  <a:pt x="631443" y="11393"/>
                </a:lnTo>
                <a:cubicBezTo>
                  <a:pt x="601062" y="-3797"/>
                  <a:pt x="565224" y="-3797"/>
                  <a:pt x="534844" y="11393"/>
                </a:cubicBezTo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 w="9525" cap="flat">
            <a:noFill/>
            <a:prstDash val="solid"/>
            <a:miter/>
          </a:ln>
          <a:effectLst>
            <a:outerShdw blurRad="152400" dist="762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rtlCol="0" anchor="ctr">
            <a:normAutofit/>
          </a:bodyPr>
          <a:p>
            <a:pPr algn="ctr"/>
            <a:r>
              <a:rPr lang="en-US" altLang="zh-CN" b="1" dirty="0">
                <a:solidFill>
                  <a:srgbClr val="FFFFFF"/>
                </a:solidFill>
                <a:latin typeface="+mn-ea"/>
              </a:rPr>
              <a:t>01</a:t>
            </a:r>
            <a:endParaRPr lang="en-US" altLang="zh-CN" b="1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37" name="直接连接符 23"/>
          <p:cNvCxnSpPr/>
          <p:nvPr>
            <p:custDataLst>
              <p:tags r:id="rId15"/>
            </p:custDataLst>
          </p:nvPr>
        </p:nvCxnSpPr>
        <p:spPr>
          <a:xfrm>
            <a:off x="3826204" y="2661924"/>
            <a:ext cx="791221" cy="0"/>
          </a:xfrm>
          <a:prstGeom prst="line">
            <a:avLst/>
          </a:prstGeom>
          <a:ln w="9525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0" scaled="0"/>
            </a:gra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18"/>
          <p:cNvSpPr/>
          <p:nvPr>
            <p:custDataLst>
              <p:tags r:id="rId16"/>
            </p:custDataLst>
          </p:nvPr>
        </p:nvSpPr>
        <p:spPr>
          <a:xfrm>
            <a:off x="8483791" y="3152931"/>
            <a:ext cx="3013919" cy="36603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策略层</a:t>
            </a:r>
            <a:endParaRPr lang="zh-CN" altLang="en-US" sz="2000" b="1" dirty="0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9" name="矩形 24"/>
          <p:cNvSpPr/>
          <p:nvPr>
            <p:custDataLst>
              <p:tags r:id="rId17"/>
            </p:custDataLst>
          </p:nvPr>
        </p:nvSpPr>
        <p:spPr>
          <a:xfrm>
            <a:off x="8483791" y="3548781"/>
            <a:ext cx="3013834" cy="5610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语义路由、复杂度路由、时序复用、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DVFS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调度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0" name="矩形 25"/>
          <p:cNvSpPr/>
          <p:nvPr>
            <p:custDataLst>
              <p:tags r:id="rId18"/>
            </p:custDataLst>
          </p:nvPr>
        </p:nvSpPr>
        <p:spPr>
          <a:xfrm>
            <a:off x="8483791" y="4631661"/>
            <a:ext cx="3013919" cy="34383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000" b="1" dirty="0">
                <a:solidFill>
                  <a:schemeClr val="accent4"/>
                </a:solidFill>
                <a:latin typeface="+mn-ea"/>
                <a:cs typeface="+mn-ea"/>
                <a:sym typeface="+mn-ea"/>
              </a:rPr>
              <a:t>评估层</a:t>
            </a:r>
            <a:endParaRPr lang="zh-CN" altLang="en-US" sz="2000" b="1" dirty="0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1" name="矩形 26"/>
          <p:cNvSpPr/>
          <p:nvPr>
            <p:custDataLst>
              <p:tags r:id="rId19"/>
            </p:custDataLst>
          </p:nvPr>
        </p:nvSpPr>
        <p:spPr>
          <a:xfrm>
            <a:off x="8483791" y="5004674"/>
            <a:ext cx="3013834" cy="5610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质量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时延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带宽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功耗日志闭环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2" name="矩形 27"/>
          <p:cNvSpPr/>
          <p:nvPr>
            <p:custDataLst>
              <p:tags r:id="rId20"/>
            </p:custDataLst>
          </p:nvPr>
        </p:nvSpPr>
        <p:spPr>
          <a:xfrm>
            <a:off x="693656" y="5337086"/>
            <a:ext cx="3014554" cy="316554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5"/>
                </a:solidFill>
                <a:latin typeface="+mn-ea"/>
                <a:cs typeface="+mn-ea"/>
              </a:rPr>
              <a:t>机制</a:t>
            </a:r>
            <a:endParaRPr lang="zh-CN" altLang="en-US" sz="2000" b="1" dirty="0">
              <a:solidFill>
                <a:schemeClr val="accent5"/>
              </a:solidFill>
              <a:latin typeface="+mn-ea"/>
              <a:cs typeface="+mn-ea"/>
            </a:endParaRPr>
          </a:p>
        </p:txBody>
      </p:sp>
      <p:sp>
        <p:nvSpPr>
          <p:cNvPr id="43" name="矩形 28"/>
          <p:cNvSpPr/>
          <p:nvPr>
            <p:custDataLst>
              <p:tags r:id="rId21"/>
            </p:custDataLst>
          </p:nvPr>
        </p:nvSpPr>
        <p:spPr>
          <a:xfrm>
            <a:off x="693656" y="5683456"/>
            <a:ext cx="3014554" cy="5607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数据流与控制流分离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支持异常降级与快速回退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4" name="矩形 29"/>
          <p:cNvSpPr/>
          <p:nvPr>
            <p:custDataLst>
              <p:tags r:id="rId22"/>
            </p:custDataLst>
          </p:nvPr>
        </p:nvSpPr>
        <p:spPr>
          <a:xfrm>
            <a:off x="693656" y="3921794"/>
            <a:ext cx="3014554" cy="34573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3"/>
                </a:solidFill>
                <a:latin typeface="+mn-ea"/>
                <a:cs typeface="+mn-ea"/>
              </a:rPr>
              <a:t>执行层</a:t>
            </a:r>
            <a:endParaRPr lang="zh-CN" altLang="en-US" sz="2000" b="1" dirty="0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45" name="矩形 30"/>
          <p:cNvSpPr/>
          <p:nvPr>
            <p:custDataLst>
              <p:tags r:id="rId23"/>
            </p:custDataLst>
          </p:nvPr>
        </p:nvSpPr>
        <p:spPr>
          <a:xfrm>
            <a:off x="693656" y="4296710"/>
            <a:ext cx="3014554" cy="5607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TPU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推理、分块融合、后处理回写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6" name="矩形 31"/>
          <p:cNvSpPr/>
          <p:nvPr>
            <p:custDataLst>
              <p:tags r:id="rId24"/>
            </p:custDataLst>
          </p:nvPr>
        </p:nvSpPr>
        <p:spPr>
          <a:xfrm>
            <a:off x="693656" y="2497620"/>
            <a:ext cx="3014554" cy="344466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  <a:cs typeface="+mn-ea"/>
              </a:rPr>
              <a:t>输入层</a:t>
            </a:r>
            <a:endParaRPr lang="zh-CN" altLang="en-US" sz="20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47" name="矩形 36"/>
          <p:cNvSpPr/>
          <p:nvPr>
            <p:custDataLst>
              <p:tags r:id="rId25"/>
            </p:custDataLst>
          </p:nvPr>
        </p:nvSpPr>
        <p:spPr>
          <a:xfrm>
            <a:off x="693656" y="2871902"/>
            <a:ext cx="3014554" cy="56078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图像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视频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端云报文统一接入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标题 9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zh-CN" altLang="en-US">
                <a:solidFill>
                  <a:schemeClr val="tx1"/>
                </a:solidFill>
              </a:rPr>
              <a:t>系统总体框架与协同机制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2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形 19"/>
          <p:cNvSpPr/>
          <p:nvPr>
            <p:custDataLst>
              <p:tags r:id="rId1"/>
            </p:custDataLst>
          </p:nvPr>
        </p:nvSpPr>
        <p:spPr>
          <a:xfrm>
            <a:off x="3651742" y="2468287"/>
            <a:ext cx="2195585" cy="3249923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18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图形 19"/>
          <p:cNvSpPr/>
          <p:nvPr>
            <p:custDataLst>
              <p:tags r:id="rId2"/>
            </p:custDataLst>
          </p:nvPr>
        </p:nvSpPr>
        <p:spPr>
          <a:xfrm>
            <a:off x="6249523" y="2468287"/>
            <a:ext cx="2195585" cy="3249923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  <a:alpha val="18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图形 19"/>
          <p:cNvSpPr/>
          <p:nvPr>
            <p:custDataLst>
              <p:tags r:id="rId3"/>
            </p:custDataLst>
          </p:nvPr>
        </p:nvSpPr>
        <p:spPr>
          <a:xfrm>
            <a:off x="1053960" y="2468287"/>
            <a:ext cx="2195585" cy="3249923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18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11"/>
          <p:cNvSpPr txBox="1"/>
          <p:nvPr>
            <p:custDataLst>
              <p:tags r:id="rId4"/>
            </p:custDataLst>
          </p:nvPr>
        </p:nvSpPr>
        <p:spPr>
          <a:xfrm>
            <a:off x="1367343" y="3273948"/>
            <a:ext cx="1568184" cy="33749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1"/>
                </a:solidFill>
              </a:rPr>
              <a:t>选型依据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7" name="文本框 13"/>
          <p:cNvSpPr txBox="1"/>
          <p:nvPr>
            <p:custDataLst>
              <p:tags r:id="rId5"/>
            </p:custDataLst>
          </p:nvPr>
        </p:nvSpPr>
        <p:spPr>
          <a:xfrm>
            <a:off x="1367343" y="3768130"/>
            <a:ext cx="1568819" cy="124274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重建质量、端侧时延、显存占用、部署复杂度、可维护性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8" name="图形 19"/>
          <p:cNvSpPr/>
          <p:nvPr>
            <p:custDataLst>
              <p:tags r:id="rId6"/>
            </p:custDataLst>
          </p:nvPr>
        </p:nvSpPr>
        <p:spPr>
          <a:xfrm>
            <a:off x="8847304" y="2468287"/>
            <a:ext cx="2195585" cy="3249923"/>
          </a:xfrm>
          <a:custGeom>
            <a:avLst/>
            <a:gdLst>
              <a:gd name="connsiteX0" fmla="*/ 1337786 w 1409605"/>
              <a:gd name="connsiteY0" fmla="*/ 223048 h 1765739"/>
              <a:gd name="connsiteX1" fmla="*/ 102775 w 1409605"/>
              <a:gd name="connsiteY1" fmla="*/ 1401 h 1765739"/>
              <a:gd name="connsiteX2" fmla="*/ 0 w 1409605"/>
              <a:gd name="connsiteY2" fmla="*/ 87316 h 1765739"/>
              <a:gd name="connsiteX3" fmla="*/ 0 w 1409605"/>
              <a:gd name="connsiteY3" fmla="*/ 1678373 h 1765739"/>
              <a:gd name="connsiteX4" fmla="*/ 103061 w 1409605"/>
              <a:gd name="connsiteY4" fmla="*/ 1764288 h 1765739"/>
              <a:gd name="connsiteX5" fmla="*/ 1338072 w 1409605"/>
              <a:gd name="connsiteY5" fmla="*/ 1537783 h 1765739"/>
              <a:gd name="connsiteX6" fmla="*/ 1409605 w 1409605"/>
              <a:gd name="connsiteY6" fmla="*/ 1451868 h 1765739"/>
              <a:gd name="connsiteX7" fmla="*/ 1409605 w 1409605"/>
              <a:gd name="connsiteY7" fmla="*/ 308963 h 1765739"/>
              <a:gd name="connsiteX8" fmla="*/ 1337786 w 1409605"/>
              <a:gd name="connsiteY8" fmla="*/ 223048 h 176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9605" h="1765739">
                <a:moveTo>
                  <a:pt x="1337786" y="223048"/>
                </a:moveTo>
                <a:lnTo>
                  <a:pt x="102775" y="1401"/>
                </a:lnTo>
                <a:cubicBezTo>
                  <a:pt x="49244" y="-8219"/>
                  <a:pt x="0" y="32929"/>
                  <a:pt x="0" y="87316"/>
                </a:cubicBezTo>
                <a:lnTo>
                  <a:pt x="0" y="1678373"/>
                </a:lnTo>
                <a:cubicBezTo>
                  <a:pt x="0" y="1732951"/>
                  <a:pt x="49435" y="1774099"/>
                  <a:pt x="103061" y="1764288"/>
                </a:cubicBezTo>
                <a:lnTo>
                  <a:pt x="1338072" y="1537783"/>
                </a:lnTo>
                <a:cubicBezTo>
                  <a:pt x="1379506" y="1530163"/>
                  <a:pt x="1409605" y="1494064"/>
                  <a:pt x="1409605" y="1451868"/>
                </a:cubicBezTo>
                <a:lnTo>
                  <a:pt x="1409605" y="308963"/>
                </a:lnTo>
                <a:cubicBezTo>
                  <a:pt x="1409700" y="266672"/>
                  <a:pt x="1379411" y="230477"/>
                  <a:pt x="1337786" y="223048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18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31"/>
          <p:cNvSpPr txBox="1"/>
          <p:nvPr>
            <p:custDataLst>
              <p:tags r:id="rId7"/>
            </p:custDataLst>
          </p:nvPr>
        </p:nvSpPr>
        <p:spPr>
          <a:xfrm>
            <a:off x="3965125" y="3273948"/>
            <a:ext cx="1568184" cy="33749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2"/>
                </a:solidFill>
              </a:rPr>
              <a:t>工程取舍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0" name="文本框 32"/>
          <p:cNvSpPr txBox="1"/>
          <p:nvPr>
            <p:custDataLst>
              <p:tags r:id="rId8"/>
            </p:custDataLst>
          </p:nvPr>
        </p:nvSpPr>
        <p:spPr>
          <a:xfrm>
            <a:off x="3965125" y="3768130"/>
            <a:ext cx="1568819" cy="124274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保留</a:t>
            </a:r>
            <a:r>
              <a:rPr lang="en-US" altLang="zh-CN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 SwinIR </a:t>
            </a: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能力</a:t>
            </a:r>
            <a:r>
              <a:rPr lang="en-US" altLang="zh-CN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,</a:t>
            </a: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利用系统策略对冲计算开销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3" name="椭圆 34"/>
          <p:cNvSpPr/>
          <p:nvPr>
            <p:custDataLst>
              <p:tags r:id="rId9"/>
            </p:custDataLst>
          </p:nvPr>
        </p:nvSpPr>
        <p:spPr>
          <a:xfrm>
            <a:off x="4407921" y="2284952"/>
            <a:ext cx="683860" cy="683860"/>
          </a:xfrm>
          <a:prstGeom prst="ellipse">
            <a:avLst/>
          </a:prstGeom>
          <a:gradFill>
            <a:gsLst>
              <a:gs pos="93000">
                <a:schemeClr val="accent2">
                  <a:alpha val="100000"/>
                </a:schemeClr>
              </a:gs>
              <a:gs pos="0">
                <a:schemeClr val="accent2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5" name="文本框 36"/>
          <p:cNvSpPr txBox="1"/>
          <p:nvPr>
            <p:custDataLst>
              <p:tags r:id="rId10"/>
            </p:custDataLst>
          </p:nvPr>
        </p:nvSpPr>
        <p:spPr>
          <a:xfrm>
            <a:off x="6562906" y="3273948"/>
            <a:ext cx="1568184" cy="33749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3"/>
                </a:solidFill>
              </a:rPr>
              <a:t>部署链路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16" name="文本框 37"/>
          <p:cNvSpPr txBox="1"/>
          <p:nvPr>
            <p:custDataLst>
              <p:tags r:id="rId11"/>
            </p:custDataLst>
          </p:nvPr>
        </p:nvSpPr>
        <p:spPr>
          <a:xfrm>
            <a:off x="6562906" y="3768130"/>
            <a:ext cx="1568819" cy="124274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PyTorch(.pth) → ONNX → MLIR → BModel</a:t>
            </a:r>
            <a:endParaRPr lang="en-US" altLang="en-US" sz="14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7" name="椭圆 39"/>
          <p:cNvSpPr/>
          <p:nvPr>
            <p:custDataLst>
              <p:tags r:id="rId12"/>
            </p:custDataLst>
          </p:nvPr>
        </p:nvSpPr>
        <p:spPr>
          <a:xfrm>
            <a:off x="7005702" y="2284952"/>
            <a:ext cx="683860" cy="683860"/>
          </a:xfrm>
          <a:prstGeom prst="ellipse">
            <a:avLst/>
          </a:prstGeom>
          <a:gradFill>
            <a:gsLst>
              <a:gs pos="93000">
                <a:schemeClr val="accent3">
                  <a:alpha val="100000"/>
                </a:schemeClr>
              </a:gs>
              <a:gs pos="0">
                <a:schemeClr val="accent3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文本框 41"/>
          <p:cNvSpPr txBox="1"/>
          <p:nvPr>
            <p:custDataLst>
              <p:tags r:id="rId13"/>
            </p:custDataLst>
          </p:nvPr>
        </p:nvSpPr>
        <p:spPr>
          <a:xfrm>
            <a:off x="9160687" y="3273948"/>
            <a:ext cx="1568184" cy="33749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b="1" dirty="0">
                <a:solidFill>
                  <a:schemeClr val="accent4"/>
                </a:solidFill>
              </a:rPr>
              <a:t>风险控制</a:t>
            </a:r>
            <a:endParaRPr lang="zh-CN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19" name="文本框 42"/>
          <p:cNvSpPr txBox="1"/>
          <p:nvPr>
            <p:custDataLst>
              <p:tags r:id="rId14"/>
            </p:custDataLst>
          </p:nvPr>
        </p:nvSpPr>
        <p:spPr>
          <a:xfrm>
            <a:off x="9160687" y="3768130"/>
            <a:ext cx="1568819" cy="1242748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kern="0" spc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算子兼容、数值一致性、资源边界三类验证</a:t>
            </a:r>
            <a:endParaRPr lang="zh-CN" altLang="en-US" sz="1400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20" name="椭圆 44"/>
          <p:cNvSpPr/>
          <p:nvPr>
            <p:custDataLst>
              <p:tags r:id="rId15"/>
            </p:custDataLst>
          </p:nvPr>
        </p:nvSpPr>
        <p:spPr>
          <a:xfrm>
            <a:off x="9603484" y="2284952"/>
            <a:ext cx="683860" cy="683860"/>
          </a:xfrm>
          <a:prstGeom prst="ellipse">
            <a:avLst/>
          </a:prstGeom>
          <a:gradFill>
            <a:gsLst>
              <a:gs pos="93000">
                <a:schemeClr val="accent4">
                  <a:alpha val="100000"/>
                </a:schemeClr>
              </a:gs>
              <a:gs pos="0">
                <a:schemeClr val="accent4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椭圆 21"/>
          <p:cNvSpPr/>
          <p:nvPr>
            <p:custDataLst>
              <p:tags r:id="rId16"/>
            </p:custDataLst>
          </p:nvPr>
        </p:nvSpPr>
        <p:spPr>
          <a:xfrm>
            <a:off x="1810140" y="2284952"/>
            <a:ext cx="683860" cy="683860"/>
          </a:xfrm>
          <a:prstGeom prst="ellipse">
            <a:avLst/>
          </a:prstGeom>
          <a:gradFill>
            <a:gsLst>
              <a:gs pos="93000">
                <a:schemeClr val="accent1">
                  <a:alpha val="100000"/>
                </a:schemeClr>
              </a:gs>
              <a:gs pos="0">
                <a:schemeClr val="accent1">
                  <a:lumMod val="40000"/>
                  <a:lumOff val="60000"/>
                  <a:alpha val="100000"/>
                </a:schemeClr>
              </a:gs>
            </a:gsLst>
            <a:lin ang="5400000" scaled="1"/>
          </a:gradFill>
          <a:ln w="444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27" name="图片 15" descr="343439383331313b343532303033313bd3a6d3c3c9ccb3c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06482" y="2484147"/>
            <a:ext cx="286105" cy="286105"/>
          </a:xfrm>
          <a:prstGeom prst="rect">
            <a:avLst/>
          </a:prstGeom>
        </p:spPr>
      </p:pic>
      <p:pic>
        <p:nvPicPr>
          <p:cNvPr id="28" name="图片 11" descr="343439383331313b343532303032373bbfcdbba7b5b5b0b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08066" y="2483512"/>
            <a:ext cx="287718" cy="287718"/>
          </a:xfrm>
          <a:prstGeom prst="rect">
            <a:avLst/>
          </a:prstGeom>
        </p:spPr>
      </p:pic>
      <p:pic>
        <p:nvPicPr>
          <p:cNvPr id="29" name="图片 16" descr="343439383331313b343532303033323bd3a6d3c3b9dcc0ed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04897" y="2484147"/>
            <a:ext cx="285470" cy="285470"/>
          </a:xfrm>
          <a:prstGeom prst="rect">
            <a:avLst/>
          </a:prstGeom>
        </p:spPr>
      </p:pic>
      <p:pic>
        <p:nvPicPr>
          <p:cNvPr id="30" name="图片 5" descr="343439383331313b343532303032323bb2fac6b7d5b9cabe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79841" y="2461309"/>
            <a:ext cx="331076" cy="331076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custDataLst>
              <p:tags r:id="rId29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模型选型与部署验证链路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757237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Node0–Node4 演进总览（质量-时延折中）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687195"/>
            <a:ext cx="4325620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Node0 建立稳定可复现实验基线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Node1 </a:t>
            </a: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探索</a:t>
            </a: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质量上限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Node2/3/4 逐步推进系统降载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演进目标：在不显著损失质量前提下缩短处理时延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2_Node1_4_Evolution_Tradeoff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595755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6972300" y="5581650"/>
            <a:ext cx="3337560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图：Node1–Node4 画质与时延演进关系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441515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Node0：精度稳定性基线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794510"/>
            <a:ext cx="379793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先解决黑图/异常值扩散问题，再进行后续优化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建立可信对照组，保证后续节点收益可解释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稳定性是系统优化的前置条件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1_Node0_Precision_Stability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611630"/>
            <a:ext cx="6309360" cy="3785616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459663" y="5728970"/>
            <a:ext cx="23628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图：Node0 精度稳定性分析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5560060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Node2：硬件接管与零拷贝降载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851660"/>
            <a:ext cx="3939540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预处理从 Python/CPU 路径下沉到硬件友好路径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减少数据搬运与解释器开销，降低链路抖动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证明“系统瓶颈不只在主模型”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3_Node2_ZeroCopy_Hardwar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85166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878763" y="5653405"/>
            <a:ext cx="21850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图：Node2 硬件接管收益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517842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Node3：分块重建与边界融合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828800"/>
            <a:ext cx="364426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Tile + Overlap 解决高分辨率输入的显存瓶颈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加权融合抑制拼接边界伪影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将“内存约束问题”转化为“可配置拼接问题”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4_Node3_Boundary_Fusion_Artifacts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645920"/>
            <a:ext cx="630936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370763" y="5447030"/>
            <a:ext cx="25406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图：Node3 分块融合伪影分析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517842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Node3：分块重建与边界融合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3891915" y="5682615"/>
            <a:ext cx="3899535" cy="4356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图：Node3 </a:t>
            </a:r>
            <a:r>
              <a:rPr lang="zh-CN">
                <a:solidFill>
                  <a:schemeClr val="tx1"/>
                </a:solidFill>
                <a:latin typeface="+mn-lt"/>
              </a:rPr>
              <a:t>输出对比</a:t>
            </a:r>
            <a:r>
              <a:rPr lang="zh-CN" altLang="en-US">
                <a:latin typeface="+mn-lt"/>
                <a:sym typeface="+mn-ea"/>
              </a:rPr>
              <a:t>（分辨率和清晰度增加）</a:t>
            </a:r>
            <a:endParaRPr lang="zh-CN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40" y="1276350"/>
            <a:ext cx="11068050" cy="4305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596455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Node4/Node5：语义+纹理双路由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970405"/>
            <a:ext cx="409130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Node4：依据复杂度分布分配算力，降低冗余计算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Node5：语义优先保障关键目标区域重建质量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空间维算力按价值投入，提升任务收益/算力比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5_Node4_Entropy_Violin_Distribution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787525"/>
            <a:ext cx="3063240" cy="2042160"/>
          </a:xfrm>
          <a:prstGeom prst="rect">
            <a:avLst/>
          </a:prstGeom>
        </p:spPr>
      </p:pic>
      <p:pic>
        <p:nvPicPr>
          <p:cNvPr id="5" name="Picture 4" descr="06_Node45_DualBrain_Routing_3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32520" y="1787525"/>
            <a:ext cx="3063240" cy="2144268"/>
          </a:xfrm>
          <a:prstGeom prst="rect">
            <a:avLst/>
          </a:prstGeom>
        </p:spPr>
      </p:pic>
      <p:sp>
        <p:nvSpPr>
          <p:cNvPr id="6" name="TextBox 5"/>
          <p:cNvSpPr txBox="1"/>
          <p:nvPr>
            <p:custDataLst>
              <p:tags r:id="rId7"/>
            </p:custDataLst>
          </p:nvPr>
        </p:nvSpPr>
        <p:spPr>
          <a:xfrm>
            <a:off x="6014403" y="5009515"/>
            <a:ext cx="20072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图：Node4 复杂度分布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8"/>
            </p:custDataLst>
          </p:nvPr>
        </p:nvSpPr>
        <p:spPr>
          <a:xfrm>
            <a:off x="9181465" y="5009515"/>
            <a:ext cx="2165350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图：Node4/5 双路由结构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596455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Node4/Node5：语义+纹理双路由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3734435" y="5214620"/>
            <a:ext cx="5006340" cy="306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 sz="1200">
                <a:solidFill>
                  <a:schemeClr val="tx1"/>
                </a:solidFill>
                <a:latin typeface="+mn-lt"/>
              </a:rPr>
              <a:t>图：</a:t>
            </a:r>
            <a:r>
              <a:rPr lang="en-US" altLang="zh-CN" sz="1200">
                <a:solidFill>
                  <a:schemeClr val="tx1"/>
                </a:solidFill>
                <a:latin typeface="+mn-lt"/>
              </a:rPr>
              <a:t>Node5 </a:t>
            </a:r>
            <a:r>
              <a:rPr lang="zh-CN" altLang="en-US" sz="1200">
                <a:solidFill>
                  <a:schemeClr val="tx1"/>
                </a:solidFill>
                <a:latin typeface="+mn-lt"/>
              </a:rPr>
              <a:t>对比组</a:t>
            </a:r>
            <a:r>
              <a:rPr lang="en-US" altLang="zh-CN" sz="1200">
                <a:solidFill>
                  <a:schemeClr val="tx1"/>
                </a:solidFill>
                <a:latin typeface="+mn-lt"/>
              </a:rPr>
              <a:t> </a:t>
            </a:r>
            <a:r>
              <a:rPr lang="zh-CN" altLang="en-US" sz="120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+mn-lt"/>
              </a:rPr>
              <a:t>Lincoln </a:t>
            </a:r>
            <a:r>
              <a:rPr lang="zh-CN" altLang="en-US" sz="1200">
                <a:solidFill>
                  <a:schemeClr val="tx1"/>
                </a:solidFill>
                <a:latin typeface="+mn-lt"/>
              </a:rPr>
              <a:t>图片三路结果对比（分辨率</a:t>
            </a:r>
            <a:r>
              <a:rPr lang="zh-CN" altLang="en-US" sz="1200">
                <a:solidFill>
                  <a:schemeClr val="tx1"/>
                </a:solidFill>
                <a:latin typeface="+mn-lt"/>
              </a:rPr>
              <a:t>和清晰度增加）</a:t>
            </a:r>
            <a:endParaRPr lang="zh-CN" altLang="en-US" sz="120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图片 8" descr="3b6b1121-2298-4913-9446-a7cbd473ede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85" y="761365"/>
            <a:ext cx="10119360" cy="44278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6323330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Node6：视频并发流水线与有序输出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943735"/>
            <a:ext cx="373189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Reader/Worker/Reorder/Writer 四段式流水线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重点不是线程数，而是有序回放与时延稳定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并发扩展存在饱和区间，需按实测窗口部署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7_Node6_Video_InMemory_Pipelin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71975" y="2017395"/>
            <a:ext cx="3895090" cy="1753235"/>
          </a:xfrm>
          <a:prstGeom prst="rect">
            <a:avLst/>
          </a:prstGeom>
        </p:spPr>
      </p:pic>
      <p:pic>
        <p:nvPicPr>
          <p:cNvPr id="5" name="Picture 4" descr="08_Node6_Concurrency_Scalin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029575" y="1811655"/>
            <a:ext cx="3895090" cy="2164080"/>
          </a:xfrm>
          <a:prstGeom prst="rect">
            <a:avLst/>
          </a:prstGeom>
        </p:spPr>
      </p:pic>
      <p:sp>
        <p:nvSpPr>
          <p:cNvPr id="6" name="TextBox 5"/>
          <p:cNvSpPr txBox="1"/>
          <p:nvPr>
            <p:custDataLst>
              <p:tags r:id="rId7"/>
            </p:custDataLst>
          </p:nvPr>
        </p:nvSpPr>
        <p:spPr>
          <a:xfrm>
            <a:off x="5548948" y="4592955"/>
            <a:ext cx="23628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图：Node6 视频内存流水线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8"/>
            </p:custDataLst>
          </p:nvPr>
        </p:nvSpPr>
        <p:spPr>
          <a:xfrm>
            <a:off x="8883968" y="4592955"/>
            <a:ext cx="21850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图：Node6 并发扩展曲线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6429375" cy="553085"/>
          </a:xfrm>
          <a:prstGeom prst="rect">
            <a:avLst/>
          </a:prstGeom>
          <a:noFill/>
        </p:spPr>
        <p:txBody>
          <a:bodyPr wrap="square">
            <a:normAutofit lnSpcReduction="2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Node6 视频帧处理对比（实测截图）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971040"/>
            <a:ext cx="3738880" cy="737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输入帧在纹理与边缘区域存在模糊与细节损失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输出帧结构轮廓更清晰，局部细节恢复更稳定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证明 Node6 在连续流场景具备可视化可用性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input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29200" y="2108835"/>
            <a:ext cx="3190240" cy="2239645"/>
          </a:xfrm>
          <a:prstGeom prst="rect">
            <a:avLst/>
          </a:prstGeom>
        </p:spPr>
      </p:pic>
      <p:pic>
        <p:nvPicPr>
          <p:cNvPr id="5" name="Picture 4" descr="result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275955" y="2108835"/>
            <a:ext cx="3190875" cy="2236470"/>
          </a:xfrm>
          <a:prstGeom prst="rect">
            <a:avLst/>
          </a:prstGeom>
        </p:spPr>
      </p:pic>
      <p:sp>
        <p:nvSpPr>
          <p:cNvPr id="6" name="TextBox 5"/>
          <p:cNvSpPr txBox="1"/>
          <p:nvPr>
            <p:custDataLst>
              <p:tags r:id="rId7"/>
            </p:custDataLst>
          </p:nvPr>
        </p:nvSpPr>
        <p:spPr>
          <a:xfrm>
            <a:off x="6089015" y="5039360"/>
            <a:ext cx="1071880" cy="30670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输入帧截图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8"/>
            </p:custDataLst>
          </p:nvPr>
        </p:nvSpPr>
        <p:spPr>
          <a:xfrm>
            <a:off x="9045258" y="5039360"/>
            <a:ext cx="16516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Node6 输出帧截图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625157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Node7：检测-超分-再检测闭环增益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836420"/>
            <a:ext cx="3561080" cy="737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以任务指标验证超分价值，而非仅视觉观感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低清/远距/小目标场景置信度提升更明显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形成“视觉增强服务业务任务”的关键证据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09_Node7_Closed_Loop_Confidenc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538605"/>
            <a:ext cx="6309360" cy="35052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548563" y="5588000"/>
            <a:ext cx="218503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图：Node7 闭环检测收益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5354320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Node8：动态 TTA 甜点位策略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778635"/>
            <a:ext cx="397954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全量 TTA 质量高但代价大，不适合长期实时运行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按区域触发策略可接近质量上限并显著降时延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体现“能力按需开启”的策略化设计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11_Node8_TTA_Efficiency_Analysis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463040"/>
            <a:ext cx="6309360" cy="3441469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339330" y="5518785"/>
            <a:ext cx="2603500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图：Node8 动态 TTA 效率分析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630872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Node10：端云协同与带宽-质量平衡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950720"/>
            <a:ext cx="3738880" cy="737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建立高保真档与甜点位档，适配不同链路条件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明确存在“可恢复区间”与“语义崩塌区间”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在弱网环境下实现传输成本与恢复质量平衡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12_Node10_Bandwidth_Efficiency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1795780"/>
            <a:ext cx="6309360" cy="341757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321233" y="5728970"/>
            <a:ext cx="263969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图：Node10 端云协同工作区间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730440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Node11/Node12：时序复用与 I/O 墙削弱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974215"/>
            <a:ext cx="436816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Node11：跨帧复用降低重复推理，提升视频处理效率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Node12：后处理链路下沉，降低尾时延与系统抖动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时间维与链路维协同，构成系统级性能提升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13_Node11_Temporal_Reuse_Efficiency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86400" y="2350135"/>
            <a:ext cx="3063240" cy="1768442"/>
          </a:xfrm>
          <a:prstGeom prst="rect">
            <a:avLst/>
          </a:prstGeom>
        </p:spPr>
      </p:pic>
      <p:pic>
        <p:nvPicPr>
          <p:cNvPr id="5" name="Picture 4" descr="15_Node12_IO_Wall_Speedu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732520" y="2350135"/>
            <a:ext cx="3063240" cy="1837944"/>
          </a:xfrm>
          <a:prstGeom prst="rect">
            <a:avLst/>
          </a:prstGeom>
        </p:spPr>
      </p:pic>
      <p:sp>
        <p:nvSpPr>
          <p:cNvPr id="6" name="TextBox 5"/>
          <p:cNvSpPr txBox="1"/>
          <p:nvPr>
            <p:custDataLst>
              <p:tags r:id="rId7"/>
            </p:custDataLst>
          </p:nvPr>
        </p:nvSpPr>
        <p:spPr>
          <a:xfrm>
            <a:off x="5775008" y="4590415"/>
            <a:ext cx="228409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图：Node11 时序复用收益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TextBox 6"/>
          <p:cNvSpPr txBox="1"/>
          <p:nvPr>
            <p:custDataLst>
              <p:tags r:id="rId8"/>
            </p:custDataLst>
          </p:nvPr>
        </p:nvSpPr>
        <p:spPr>
          <a:xfrm>
            <a:off x="9142730" y="4590415"/>
            <a:ext cx="2040890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图：Node12 I/O 墙加速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7304405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Node11/Node12：时序复用与 I/O 墙削弱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75" y="1193165"/>
            <a:ext cx="7134225" cy="473202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019165" y="1287145"/>
            <a:ext cx="3096260" cy="553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 sz="1300">
                <a:solidFill>
                  <a:schemeClr val="tx1"/>
                </a:solidFill>
                <a:latin typeface="+mn-lt"/>
              </a:rPr>
              <a:t>图：</a:t>
            </a:r>
            <a:r>
              <a:rPr lang="en-US" altLang="zh-CN" sz="1300">
                <a:solidFill>
                  <a:schemeClr val="tx1"/>
                </a:solidFill>
                <a:latin typeface="+mn-lt"/>
              </a:rPr>
              <a:t>Node11 </a:t>
            </a:r>
            <a:r>
              <a:rPr lang="zh-CN" altLang="en-US" sz="1300">
                <a:solidFill>
                  <a:schemeClr val="tx1"/>
                </a:solidFill>
                <a:latin typeface="+mn-lt"/>
              </a:rPr>
              <a:t>对比组：跨帧复用策略恢复效果</a:t>
            </a:r>
            <a:endParaRPr lang="zh-CN" altLang="en-US" sz="1300"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8430260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Node13/14/15：能效调度、鲁棒防御与扩展方向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457200" y="1971675"/>
            <a:ext cx="4545965" cy="737235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Node13：复杂度驱动 DVFS，提升长期运行能效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Node14：退化感知防御，降低未知输入下错误增强风险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  <a:cs typeface="方正博雅宋简体" panose="02000000000000000000" charset="-122"/>
              </a:rPr>
              <a:t>Node15：蒸馏与双模型路由，为后续扩展预留路径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  <a:cs typeface="方正博雅宋简体" panose="02000000000000000000" charset="-122"/>
            </a:endParaRPr>
          </a:p>
        </p:txBody>
      </p:sp>
      <p:pic>
        <p:nvPicPr>
          <p:cNvPr id="4" name="Picture 3" descr="16_Node13_Real_DVFS_Power_Savin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03520" y="1826895"/>
            <a:ext cx="2148840" cy="1432560"/>
          </a:xfrm>
          <a:prstGeom prst="rect">
            <a:avLst/>
          </a:prstGeom>
        </p:spPr>
      </p:pic>
      <p:pic>
        <p:nvPicPr>
          <p:cNvPr id="5" name="Picture 4" descr="17_Node14_BlindSR_Perception_Analysis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543800" y="1826895"/>
            <a:ext cx="2148840" cy="1253490"/>
          </a:xfrm>
          <a:prstGeom prst="rect">
            <a:avLst/>
          </a:prstGeom>
        </p:spPr>
      </p:pic>
      <p:pic>
        <p:nvPicPr>
          <p:cNvPr id="6" name="Picture 5" descr="18_Node15_Distillation_Analysis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784080" y="1826895"/>
            <a:ext cx="2148840" cy="97232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9"/>
            </p:custDataLst>
          </p:nvPr>
        </p:nvSpPr>
        <p:spPr>
          <a:xfrm>
            <a:off x="5971858" y="3365500"/>
            <a:ext cx="812165" cy="30670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Node13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>
            <p:custDataLst>
              <p:tags r:id="rId10"/>
            </p:custDataLst>
          </p:nvPr>
        </p:nvSpPr>
        <p:spPr>
          <a:xfrm>
            <a:off x="8212138" y="3365500"/>
            <a:ext cx="812165" cy="30670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Node14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>
            <p:custDataLst>
              <p:tags r:id="rId11"/>
            </p:custDataLst>
          </p:nvPr>
        </p:nvSpPr>
        <p:spPr>
          <a:xfrm>
            <a:off x="10452418" y="3365500"/>
            <a:ext cx="812165" cy="306705"/>
          </a:xfrm>
          <a:prstGeom prst="rect">
            <a:avLst/>
          </a:prstGeom>
          <a:noFill/>
        </p:spPr>
        <p:txBody>
          <a:bodyPr wrap="square">
            <a:normAutofit fontScale="8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Node15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Picture 9" descr="turbo（汽车进入）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303520" y="4170680"/>
            <a:ext cx="1554480" cy="874675"/>
          </a:xfrm>
          <a:prstGeom prst="rect">
            <a:avLst/>
          </a:prstGeom>
        </p:spPr>
      </p:pic>
      <p:pic>
        <p:nvPicPr>
          <p:cNvPr id="11" name="Picture 10" descr="normal（正在驶出）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6949440" y="4170680"/>
            <a:ext cx="1554480" cy="874675"/>
          </a:xfrm>
          <a:prstGeom prst="rect">
            <a:avLst/>
          </a:prstGeom>
        </p:spPr>
      </p:pic>
      <p:pic>
        <p:nvPicPr>
          <p:cNvPr id="12" name="Picture 11" descr="eco（几乎驶出）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595360" y="4170680"/>
            <a:ext cx="1554480" cy="874675"/>
          </a:xfrm>
          <a:prstGeom prst="rect">
            <a:avLst/>
          </a:prstGeom>
        </p:spPr>
      </p:pic>
      <p:pic>
        <p:nvPicPr>
          <p:cNvPr id="13" name="Picture 12" descr="sleep（完全驶出，画面静止）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241280" y="4170680"/>
            <a:ext cx="1554480" cy="874675"/>
          </a:xfrm>
          <a:prstGeom prst="rect">
            <a:avLst/>
          </a:prstGeom>
        </p:spPr>
      </p:pic>
      <p:sp>
        <p:nvSpPr>
          <p:cNvPr id="14" name="TextBox 13"/>
          <p:cNvSpPr txBox="1"/>
          <p:nvPr>
            <p:custDataLst>
              <p:tags r:id="rId20"/>
            </p:custDataLst>
          </p:nvPr>
        </p:nvSpPr>
        <p:spPr>
          <a:xfrm>
            <a:off x="5741353" y="5327650"/>
            <a:ext cx="65087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Turbo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5" name="TextBox 14"/>
          <p:cNvSpPr txBox="1"/>
          <p:nvPr>
            <p:custDataLst>
              <p:tags r:id="rId21"/>
            </p:custDataLst>
          </p:nvPr>
        </p:nvSpPr>
        <p:spPr>
          <a:xfrm>
            <a:off x="7333298" y="5327650"/>
            <a:ext cx="75882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Normal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/>
          <p:cNvSpPr txBox="1"/>
          <p:nvPr>
            <p:custDataLst>
              <p:tags r:id="rId22"/>
            </p:custDataLst>
          </p:nvPr>
        </p:nvSpPr>
        <p:spPr>
          <a:xfrm>
            <a:off x="9114155" y="5327650"/>
            <a:ext cx="488950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Eco</a:t>
            </a:r>
            <a:endParaRPr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TextBox 16"/>
          <p:cNvSpPr txBox="1"/>
          <p:nvPr>
            <p:custDataLst>
              <p:tags r:id="rId23"/>
            </p:custDataLst>
          </p:nvPr>
        </p:nvSpPr>
        <p:spPr>
          <a:xfrm>
            <a:off x="10688003" y="5327650"/>
            <a:ext cx="633095" cy="30670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Sleep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8430260" cy="553085"/>
          </a:xfrm>
          <a:prstGeom prst="rect">
            <a:avLst/>
          </a:prstGeom>
          <a:noFill/>
        </p:spPr>
        <p:txBody>
          <a:bodyPr wrap="square">
            <a:normAutofit fontScale="9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Node13/14/15：能效调度、鲁棒防御与扩展方向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85" y="1236345"/>
            <a:ext cx="9358630" cy="3455035"/>
          </a:xfrm>
          <a:prstGeom prst="rect">
            <a:avLst/>
          </a:prstGeom>
        </p:spPr>
      </p:pic>
      <p:sp>
        <p:nvSpPr>
          <p:cNvPr id="19" name="TextBox 6"/>
          <p:cNvSpPr txBox="1"/>
          <p:nvPr>
            <p:custDataLst>
              <p:tags r:id="rId3"/>
            </p:custDataLst>
          </p:nvPr>
        </p:nvSpPr>
        <p:spPr>
          <a:xfrm>
            <a:off x="3632835" y="4900295"/>
            <a:ext cx="4925060" cy="553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 sz="1300">
                <a:solidFill>
                  <a:schemeClr val="tx1"/>
                </a:solidFill>
                <a:latin typeface="+mn-lt"/>
              </a:rPr>
              <a:t>图：</a:t>
            </a:r>
            <a:r>
              <a:rPr lang="en-US" altLang="zh-CN" sz="1300">
                <a:solidFill>
                  <a:schemeClr val="tx1"/>
                </a:solidFill>
                <a:latin typeface="+mn-lt"/>
              </a:rPr>
              <a:t>Node14 </a:t>
            </a:r>
            <a:r>
              <a:rPr lang="zh-CN" altLang="en-US" sz="1300">
                <a:solidFill>
                  <a:schemeClr val="tx1"/>
                </a:solidFill>
                <a:latin typeface="+mn-lt"/>
              </a:rPr>
              <a:t>对比组：退化输入场景下盲超分策略效果对比</a:t>
            </a:r>
            <a:endParaRPr lang="zh-CN" altLang="en-US" sz="1300"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457200" y="182880"/>
            <a:ext cx="2854325" cy="55308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000" b="1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j-lt"/>
              </a:rPr>
              <a:t>结论与提交价值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640080" y="1463040"/>
            <a:ext cx="4450080" cy="9531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</a:rPr>
              <a:t>完成从模型部署到系统化协同优化的端侧超分闭环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</a:rPr>
              <a:t>在质量、时延、带宽、功耗四维形成可量化收益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</a:rPr>
              <a:t>形成可复现证据链：脚本、日志、图表、参数模板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  <a:p>
            <a:pPr>
              <a:defRPr sz="1400">
                <a:latin typeface="Songti SC" panose="02010800040101010101" charset="-122"/>
              </a:defRPr>
            </a:pPr>
            <a:r>
              <a:rPr sz="2400">
                <a:solidFill>
                  <a:schemeClr val="tx1"/>
                </a:solidFill>
                <a:latin typeface="方正博雅宋简体" panose="02000000000000000000" charset="-122"/>
                <a:ea typeface="方正博雅宋简体" panose="02000000000000000000" charset="-122"/>
              </a:rPr>
              <a:t>具备持续扩展能力：混合精度、蒸馏路由、服务化并发</a:t>
            </a:r>
            <a:endParaRPr sz="2400">
              <a:solidFill>
                <a:schemeClr val="tx1"/>
              </a:solidFill>
              <a:latin typeface="方正博雅宋简体" panose="02000000000000000000" charset="-122"/>
              <a:ea typeface="方正博雅宋简体" panose="02000000000000000000" charset="-122"/>
            </a:endParaRPr>
          </a:p>
        </p:txBody>
      </p:sp>
      <p:pic>
        <p:nvPicPr>
          <p:cNvPr id="4" name="Picture 3" descr="10_Overall_Architecture_Radar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74080" y="1280160"/>
            <a:ext cx="4742815" cy="4742815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7127240" y="6035040"/>
            <a:ext cx="3027680" cy="30670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1400">
                <a:latin typeface="Songti SC" panose="02010800040101010101" charset="-122"/>
              </a:defRPr>
            </a:pPr>
            <a:r>
              <a:rPr>
                <a:solidFill>
                  <a:schemeClr val="tx1"/>
                </a:solidFill>
                <a:latin typeface="+mn-lt"/>
              </a:rPr>
              <a:t>图：系统能力雷达图（提交版总结）</a:t>
            </a:r>
            <a:endParaRPr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1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9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1509_1*b*1"/>
  <p:tag name="KSO_WM_TEMPLATE_CATEGORY" val="custom"/>
  <p:tag name="KSO_WM_TEMPLATE_INDEX" val="20231509"/>
  <p:tag name="KSO_WM_UNIT_LAYERLEVEL" val="1"/>
  <p:tag name="KSO_WM_TAG_VERSION" val="3.0"/>
  <p:tag name="KSO_WM_BEAUTIFY_FLAG" val="#wm#"/>
  <p:tag name="KSO_WM_UNIT_PRESET_TEXT" val="单击此处添加副标题"/>
  <p:tag name="KSO_WM_UNIT_TEXT_TYPE" val="1"/>
</p:tagLst>
</file>

<file path=ppt/tags/tag97.xml><?xml version="1.0" encoding="utf-8"?>
<p:tagLst xmlns:p="http://schemas.openxmlformats.org/presentationml/2006/main">
  <p:tag name="KSO_WM_UNIT_SUBTYPE" val="c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1509_1*f*1"/>
  <p:tag name="KSO_WM_TEMPLATE_CATEGORY" val="custom"/>
  <p:tag name="KSO_WM_TEMPLATE_INDEX" val="20231509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TEMPLATE_CATEGORY" val="custom"/>
  <p:tag name="KSO_WM_TEMPLATE_INDEX" val="20231509"/>
  <p:tag name="KSO_WM_UNIT_LAYERLEVEL" val="1"/>
  <p:tag name="KSO_WM_TAG_VERSION" val="3.0"/>
  <p:tag name="KSO_WM_BEAUTIFY_FLAG" val="#wm#"/>
  <p:tag name="KSO_WM_UNIT_PRESET_TEXT" val="年号占位符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05_1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PRESET_TEXT" val="单击此处添加文档标题内容"/>
  <p:tag name="KSO_WM_UNIT_TEXT_TYPE" val="1"/>
</p:tagLst>
</file>

<file path=ppt/tags/tag10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05_1*f*4"/>
  <p:tag name="KSO_WM_TEMPLATE_CATEGORY" val="custom"/>
  <p:tag name="KSO_WM_TEMPLATE_INDEX" val="20233105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SLIDE_ID" val="custom20233105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05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202"/>
  <p:tag name="KSO_WM_SLIDE_THEME_NAME" val="紫色半圆线条极简风主题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1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1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gradient&quot;:[{&quot;brightness&quot;:0,&quot;colorType&quot;:1,&quot;foreColorIndex&quot;:5,&quot;pos&quot;:0,&quot;transparency&quot;:0},{&quot;brightness&quot;:-0.10000000149011612,&quot;colorType&quot;:1,&quot;foreColorIndex&quot;:5,&quot;pos&quot;:1,&quot;transparency&quot;:0}],&quot;type&quot;:3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983_2*l_h_f*1_1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983_2*l_h_a*1_1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1_2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1_2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1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1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2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2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2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2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2_2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2_2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solidLine&quot;:{&quot;brightness&quot;:0,&quot;colorType&quot;:2,&quot;rgb&quot;:&quot;#bfbfb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3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3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3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3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3_2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3_2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solidLine&quot;:{&quot;brightness&quot;:0,&quot;colorType&quot;:2,&quot;rgb&quot;:&quot;#bfbfb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4_3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4_3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13,&quot;transparency&quot;:0.8500000238418579},&quot;type&quot;:1},&quot;shadow&quot;:{&quot;brightness&quot;:0,&quot;colorType&quot;:1,&quot;foreColorIndex&quot;:13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  <p:tag name="KSO_WM_UNIT_LINE_FILL_TYPE" val="2"/>
  <p:tag name="KSO_WM_UNIT_SHADOW_SCHEMECOLOR_INDEX" val="13"/>
  <p:tag name="KSO_WM_UNIT_TEXT_FILL_FORE_SCHEMECOLOR_INDEX" val="2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4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SUBTYPE" val="d"/>
  <p:tag name="KSO_WM_UNIT_TYPE" val="l_h_i"/>
  <p:tag name="KSO_WM_UNIT_INDEX" val="1_4_1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983_2*l_h_i*1_4_2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YPE" val="l_h_i"/>
  <p:tag name="KSO_WM_UNIT_INDEX" val="1_4_2"/>
  <p:tag name="KSO_WM_DIAGRAM_VERSION" val="3"/>
  <p:tag name="KSO_WM_DIAGRAM_COLOR_TEXT_CAN_REMOVE" val="n"/>
  <p:tag name="KSO_WM_DIAGRAM_GROUP_CODE" val="l1-1"/>
  <p:tag name="KSO_WM_DIAGRAM_COLOR_TRICK" val="1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solidLine&quot;:{&quot;brightness&quot;:0,&quot;colorType&quot;:2,&quot;rgb&quot;:&quot;#bfbfb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16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983_2*l_h_f*1_2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983_2*l_h_a*1_2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18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983_2*l_h_f*1_3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983_2*l_h_a*1_3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20.xml><?xml version="1.0" encoding="utf-8"?>
<p:tagLst xmlns:p="http://schemas.openxmlformats.org/presentationml/2006/main">
  <p:tag name="KSO_WM_DIAGRAM_VERSION" val="3"/>
  <p:tag name="KSO_WM_DIAGRAM_COLOR_TEXT_CAN_REMOVE" val="n"/>
  <p:tag name="KSO_WM_UNIT_SUBTYPE" val="a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983_2*l_h_f*1_4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0000000298023224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单击此处输入你的项正文，文字是您思想的提炼，请尽量言简意赅。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983_2*l_h_a*1_4_1"/>
  <p:tag name="KSO_WM_TEMPLATE_CATEGORY" val="diagram"/>
  <p:tag name="KSO_WM_TEMPLATE_INDEX" val="20231983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EXT_CAN_REMOVE" val="n"/>
  <p:tag name="KSO_WM_DIAGRAM_MAX_ITEMCNT" val="4"/>
  <p:tag name="KSO_WM_DIAGRAM_MIN_ITEMCNT" val="3"/>
  <p:tag name="KSO_WM_DIAGRAM_VIRTUALLY_FRAME" val="{&quot;height&quot;:336.85380186798096,&quot;left&quot;:54.746062992125985,&quot;top&quot;:135.12268207125888,&quot;width&quot;:849.50787401574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GROUP_CODE" val="l1-1"/>
  <p:tag name="KSO_WM_DIAGRAM_COLOR_TRICK" val="1"/>
  <p:tag name="KSO_WM_UNIT_PRESET_TEXT" val="此处添加项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983_2*a*1"/>
  <p:tag name="KSO_WM_TEMPLATE_CATEGORY" val="diagram"/>
  <p:tag name="KSO_WM_TEMPLATE_INDEX" val="2023198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105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4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DIAGRAM_GROUP_CODE" val="l1-1"/>
  <p:tag name="KSO_WM_UNIT_PRESET_TEXT_INDEX" val="-1"/>
  <p:tag name="KSO_WM_UNIT_PRESET_TEXT_LEN" val="0"/>
  <p:tag name="KSO_WM_UNIT_USESOURCEFORMAT_APPLY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4"/>
  <p:tag name="KSO_WM_DIAGRAM_GROUP_CODE" val="l1-1"/>
  <p:tag name="KSO_WM_UNIT_TYPE" val="a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a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3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1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2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4_2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1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i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DIAGRAM_GROUP_CODE" val="l1-1"/>
  <p:tag name="KSO_WM_UNIT_SUBTYPE" val="d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a*1_2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a*1_3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105_4*l_h_a*1_4_1"/>
  <p:tag name="KSO_WM_TEMPLATE_CATEGORY" val="custom"/>
  <p:tag name="KSO_WM_TEMPLATE_INDEX" val="20233105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5.0477294921875,&quot;width&quot;:403.2150268554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目录项标题"/>
  <p:tag name="KSO_WM_UNIT_TEXT_TYPE" val="1"/>
</p:tagLst>
</file>

<file path=ppt/tags/tag138.xml><?xml version="1.0" encoding="utf-8"?>
<p:tagLst xmlns:p="http://schemas.openxmlformats.org/presentationml/2006/main">
  <p:tag name="KSO_WM_SLIDE_ID" val="custom20233105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105"/>
  <p:tag name="KSO_WM_SLIDE_TYPE" val="contents"/>
  <p:tag name="KSO_WM_SLIDE_SUBTYPE" val="diag"/>
  <p:tag name="KSO_WM_DIAGRAM_GROUP_CODE" val="l1-1"/>
  <p:tag name="KSO_WM_SLIDE_DIAGTYPE" val="l"/>
  <p:tag name="KSO_WM_SLIDE_LAYOUT" val="a_l"/>
  <p:tag name="KSO_WM_SLIDE_LAYOUT_CNT" val="1_1"/>
  <p:tag name="KSO_WM_SLIDE_THEME_ID" val="3321202"/>
  <p:tag name="KSO_WM_SLIDE_THEME_NAME" val="紫色半圆线条极简风主题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4"/>
  <p:tag name="KSO_WM_UNIT_ID" val="diagram20234386_1*l_h_i*1_4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3"/>
  <p:tag name="KSO_WM_UNIT_ID" val="diagram20234386_1*l_h_i*1_4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2"/>
  <p:tag name="KSO_WM_UNIT_ID" val="diagram20234386_1*l_h_i*1_4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4"/>
  <p:tag name="KSO_WM_UNIT_ID" val="diagram20234386_1*l_h_i*1_2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,&quot;colorType&quot;:1,&quot;foreColorIndex&quot;:5,&quot;pos&quot;:0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3"/>
  <p:tag name="KSO_WM_UNIT_ID" val="diagram20234386_1*l_h_i*1_2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.30000001192092896,&quot;colorType&quot;:1,&quot;foreColorIndex&quot;:5,&quot;pos&quot;:0,&quot;transparency&quot;:0},{&quot;brightness&quot;:0.30000001192092896,&quot;colorType&quot;:1,&quot;foreColorIndex&quot;:5,&quot;pos&quot;:1,&quot;transparency&quot;:0},{&quot;brightness&quot;:0.5,&quot;colorType&quot;:1,&quot;foreColorIndex&quot;:5,&quot;pos&quot;:0.540000021457672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2"/>
  <p:tag name="KSO_WM_UNIT_ID" val="diagram20234386_1*l_h_i*1_2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-0.25,&quot;colorType&quot;:1,&quot;foreColorIndex&quot;:5,&quot;pos&quot;:0.38999998569488525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4"/>
  <p:tag name="KSO_WM_UNIT_ID" val="diagram20234386_1*l_h_i*1_1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.699999988079071,&quot;colorType&quot;:1,&quot;foreColorIndex&quot;:5,&quot;pos&quot;:0,&quot;transparency&quot;:0},{&quot;brightness&quot;:0.699999988079071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diagram20234386_1*l_h_i*1_1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3"/>
  <p:tag name="KSO_WM_UNIT_ID" val="diagram20234386_1*l_h_i*1_1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-0.05000000074505806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4"/>
  <p:tag name="KSO_WM_UNIT_ID" val="diagram20234386_1*l_h_i*1_3_4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6000000238418579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3"/>
  <p:tag name="KSO_WM_UNIT_ID" val="diagram20234386_1*l_h_i*1_3_3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-0.10000000149011612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2"/>
  <p:tag name="KSO_WM_UNIT_ID" val="diagram20234386_1*l_h_i*1_3_2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.10000000149011612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4386_1*l_h_i*1_3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4386_1*l_h_i*1_1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4386_1*l_h_i*1_4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4386_1*l_h_i*1_2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15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4386_1*l_h_f*1_1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4386_1*l_h_f*1_3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4386_1*l_h_f*1_2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1"/>
  <p:tag name="KSO_WM_DIAGRAM_GROUP_CODE" val="l1-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3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4386_1*l_h_x*1_1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5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4386_1*l_h_x*1_2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15*1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4386_1*l_h_x*1_3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4386_1*l_h_f*1_4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l1-1"/>
  <p:tag name="KSO_WM_UNIT_VALUE" val="51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您的项正文，文字是您思想的提炼，请尽量言简意赅的阐述观点单击输入项正文，文字是您思想的提炼"/>
  <p:tag name="KSO_WM_UNIT_TEXT_FILL_FORE_SCHEMECOLOR_INDEX" val="1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24*1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4386_1*l_h_x*1_4_1"/>
  <p:tag name="KSO_WM_TEMPLATE_CATEGORY" val="diagram"/>
  <p:tag name="KSO_WM_TEMPLATE_INDEX" val="20234386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356.8528758110444,&quot;left&quot;:54.7429166666667,&quot;top&quot;:134.041769858247,&quot;width&quot;:849.989209317585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4386_1*a*1"/>
  <p:tag name="KSO_WM_TEMPLATE_CATEGORY" val="diagram"/>
  <p:tag name="KSO_WM_TEMPLATE_INDEX" val="20234386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SLIDE_ID" val="custom2023310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SLIDE_SIZE" val="850*457"/>
  <p:tag name="KSO_WM_SLIDE_POSITION" val="54*28"/>
  <p:tag name="KSO_WM_TAG_VERSION" val="3.0"/>
  <p:tag name="KSO_WM_BEAUTIFY_FLAG" val="#wm#"/>
  <p:tag name="KSO_WM_TEMPLATE_CATEGORY" val="custom"/>
  <p:tag name="KSO_WM_TEMPLATE_INDEX" val="20233105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1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6000000238418579},{&quot;brightness&quot;:0,&quot;colorType&quot;:1,&quot;foreColorIndex&quot;:5,&quot;pos&quot;:0.52999997138977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2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5299999713897705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3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gradient&quot;:[{&quot;brightness&quot;:0,&quot;colorType&quot;:1,&quot;foreColorIndex&quot;:5,&quot;pos&quot;:1,&quot;transparency&quot;:0.8199999928474426},{&quot;brightness&quot;:0,&quot;colorType&quot;:1,&quot;foreColorIndex&quot;:5,&quot;pos&quot;:0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564_3*l_h_f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564_3*l_h_a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3600000143051147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3"/>
  <p:tag name="KSO_WM_UNIT_TEXT_FILL_TYPE" val="3"/>
  <p:tag name="KSO_WM_UNIT_USESOURCEFORMAT_APPLY" val="1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gradient&quot;:[{&quot;brightness&quot;:0,&quot;colorType&quot;:1,&quot;foreColorIndex&quot;:8,&quot;pos&quot;:0.75,&quot;transparency&quot;:0},{&quot;brightness&quot;:0.4000000059604645,&quot;colorType&quot;:1,&quot;foreColorIndex&quot;:8,&quot;pos&quot;:0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USESOURCEFORMAT_APPLY" val="1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564_3*l_h_f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UNIT_USESOURCEFORMAT_APPLY" val="1"/>
</p:tagLst>
</file>

<file path=ppt/tags/tag1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564_3*l_h_a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8,&quot;pos&quot;:0.3600000143051147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3"/>
  <p:tag name="KSO_WM_UNIT_TEXT_FILL_TYPE" val="3"/>
  <p:tag name="KSO_WM_UNIT_USESOURCEFORMAT_APPLY" val="1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USESOURCEFORMAT_APPLY" val="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gradient&quot;:[{&quot;brightness&quot;:0,&quot;colorType&quot;:1,&quot;foreColorIndex&quot;:5,&quot;pos&quot;:0.7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USESOURCEFORMAT_APPLY" val="1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TEXT_FILL_FORE_SCHEMECOLOR_INDEX" val="2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TEXT_FILL_FORE_SCHEMECOLOR_INDEX" val="2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564_3*l_h_f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UNIT_USESOURCEFORMAT_APPLY" val="1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564_3*l_h_a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.36000001430511475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3"/>
  <p:tag name="KSO_WM_UNIT_TEXT_FILL_TYPE" val="3"/>
  <p:tag name="KSO_WM_UNIT_USESOURCEFORMAT_APPLY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USESOURCEFORMAT_APPLY" val="1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2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2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gradient&quot;:[{&quot;brightness&quot;:0,&quot;colorType&quot;:1,&quot;foreColorIndex&quot;:8,&quot;pos&quot;:0.75,&quot;transparency&quot;:0},{&quot;brightness&quot;:0.4000000059604645,&quot;colorType&quot;:1,&quot;foreColorIndex&quot;:8,&quot;pos&quot;:0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USESOURCEFORMAT_APPLY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3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3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UNIT_TEXT_FILL_FORE_SCHEMECOLOR_INDEX" val="2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4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0.8600000143051147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UNIT_TEXT_FILL_FORE_SCHEMECOLOR_INDEX" val="2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564_3*l_h_f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564_3*l_h_a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8,&quot;pos&quot;:0.36000001430511475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项标题"/>
  <p:tag name="KSO_WM_UNIT_TEXT_FILL_FORE_SCHEMECOLOR_INDEX" val="3"/>
  <p:tag name="KSO_WM_UNIT_TEXT_FILL_TYPE" val="3"/>
  <p:tag name="KSO_WM_UNIT_USESOURCEFORMAT_APPLY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i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,&quot;colorType&quot;:1,&quot;foreColorIndex&quot;:8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USESOURCEFORMAT_APPLY" val="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i*1_4"/>
  <p:tag name="KSO_WM_TEMPLATE_CATEGORY" val="diagram"/>
  <p:tag name="KSO_WM_TEMPLATE_INDEX" val="20231564"/>
  <p:tag name="KSO_WM_UNIT_LAYERLEVEL" val="1_1"/>
  <p:tag name="KSO_WM_TAG_VERSION" val="3.0"/>
  <p:tag name="KSO_WM_BEAUTIFY_FLAG" val="#wm#"/>
  <p:tag name="KSO_WM_DIAGRAM_GROUP_CODE" val="l1-1"/>
  <p:tag name="KSO_WM_UNIT_TYPE" val="l_i"/>
  <p:tag name="KSO_WM_UNIT_INDEX" val="1_4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gradient&quot;:[{&quot;brightness&quot;:0,&quot;colorType&quot;:1,&quot;foreColorIndex&quot;:5,&quot;pos&quot;:0.8999999761581421,&quot;transparency&quot;:1},{&quot;brightness&quot;:0,&quot;colorType&quot;:1,&quot;foreColorIndex&quot;:5,&quot;pos&quot;:0.5,&quot;transparency&quot;:0.8199999928474426},{&quot;brightness&quot;:0,&quot;colorType&quot;:1,&quot;foreColorIndex&quot;:5,&quot;pos&quot;:0.10000000149011612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1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75*75"/>
  <p:tag name="KSO_WM_DIAGRAM_GROUP_CODE" val="l1-1"/>
  <p:tag name="KSO_WM_UNIT_TYPE" val="l_h_x"/>
  <p:tag name="KSO_WM_UNIT_INDEX" val="1_1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SHADOW_SCHEMECOLOR_INDEX" val="5"/>
  <p:tag name="KSO_WM_UNIT_USESOURCEFORMAT_APPLY" val="1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2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77*77"/>
  <p:tag name="KSO_WM_DIAGRAM_GROUP_CODE" val="l1-1"/>
  <p:tag name="KSO_WM_UNIT_TYPE" val="l_h_x"/>
  <p:tag name="KSO_WM_UNIT_INDEX" val="1_2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SHADOW_SCHEMECOLOR_INDEX" val="6"/>
  <p:tag name="KSO_WM_UNIT_USESOURCEFORMAT_APPLY" val="1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3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44*86"/>
  <p:tag name="KSO_WM_DIAGRAM_GROUP_CODE" val="l1-1"/>
  <p:tag name="KSO_WM_UNIT_TYPE" val="l_h_x"/>
  <p:tag name="KSO_WM_UNIT_INDEX" val="1_3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SHADOW_SCHEMECOLOR_INDEX" val="7"/>
  <p:tag name="KSO_WM_UNIT_USESOURCEFORMAT_APPLY" val="1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l_h_x*1_4_1"/>
  <p:tag name="KSO_WM_TEMPLATE_CATEGORY" val="diagram"/>
  <p:tag name="KSO_WM_TEMPLATE_INDEX" val="20231564"/>
  <p:tag name="KSO_WM_UNIT_LAYERLEVEL" val="1_1_1"/>
  <p:tag name="KSO_WM_TAG_VERSION" val="3.0"/>
  <p:tag name="KSO_WM_BEAUTIFY_FLAG" val="#wm#"/>
  <p:tag name="KSO_WM_UNIT_VALUE" val="65*89"/>
  <p:tag name="KSO_WM_DIAGRAM_GROUP_CODE" val="l1-1"/>
  <p:tag name="KSO_WM_UNIT_TYPE" val="l_h_x"/>
  <p:tag name="KSO_WM_UNIT_INDEX" val="1_4_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5.4119685039371,&quot;left&quot;:47.855610236220514,&quot;top&quot;:121.0123622047244,&quot;width&quot;:863.291870078740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SHADOW_SCHEMECOLOR_INDEX" val="8"/>
  <p:tag name="KSO_WM_UNIT_USESOURCEFORMAT_APPLY" val="1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564_3*a*1"/>
  <p:tag name="KSO_WM_TEMPLATE_CATEGORY" val="diagram"/>
  <p:tag name="KSO_WM_TEMPLATE_INDEX" val="20231564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30"/>
  <p:tag name="KSO_WM_DIAGRAM_GROUP_CODE" val="l1-1"/>
  <p:tag name="KSO_WM_UNIT_TYPE" val="a"/>
  <p:tag name="KSO_WM_UNIT_INDEX" val="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98.xml><?xml version="1.0" encoding="utf-8"?>
<p:tagLst xmlns:p="http://schemas.openxmlformats.org/presentationml/2006/main"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105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199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1402_4*l_h_i*1_5_3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800000011920929,&quot;colorType&quot;:1,&quot;foreColorIndex&quot;:5,&quot;pos&quot;:0.949999988079071,&quot;transparency&quot;:1},{&quot;brightness&quot;:0.4000000059604645,&quot;colorType&quot;:1,&quot;foreColorIndex&quot;:5,&quot;pos&quot;:0.30000001192092896,&quot;transparency&quot;:0.800000011920929}],&quot;type&quot;:3},&quot;glow&quot;:{&quot;colorType&quot;:0},&quot;line&quot;:{&quot;gradient&quot;:[{&quot;brightness&quot;:0,&quot;colorType&quot;:1,&quot;foreColorIndex&quot;:5,&quot;pos&quot;:0.550000011920929,&quot;transparency&quot;:1},{&quot;brightness&quot;:0,&quot;colorType&quot;:1,&quot;foreColorIndex&quot;:5,&quot;pos&quot;:1,&quot;transparency&quot;:0.6000000238418579}],&quot;type&quot;:2},&quot;shadow&quot;:{&quot;brightness&quot;:0,&quot;colorType&quot;:1,&quot;foreColorIndex&quot;:5,&quot;transparency&quot;:0.7099999785423279},&quot;threeD&quot;:{&quot;curvedSurface&quot;:{&quot;brightness&quot;:0,&quot;colorType&quot;:2,&quot;rgb&quot;:&quot;#000000&quot;},&quot;depth&quot;:{&quot;brightness&quot;:0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9"/>
  <p:tag name="KSO_WM_UNIT_SHADOW_SCHEMECOLOR_INDEX" val="9"/>
  <p:tag name="KSO_WM_UNIT_TEXT_FILL_FORE_SCHEMECOLOR_INDEX" val="2"/>
  <p:tag name="KSO_WM_UNIT_TEXT_FILL_TYPE" val="1"/>
  <p:tag name="KSO_WM_UNIT_USESOURCEFORMAT_APPLY" val="1"/>
</p:tagLst>
</file>

<file path=ppt/tags/tag200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1402_4*l_h_i*1_5_1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BEAUTIFY_FLAG" val="#wm#"/>
  <p:tag name="KSO_WM_UNIT_FILL_TYPE" val="3"/>
  <p:tag name="KSO_WM_UNIT_SHADOW_SCHEMECOLOR_INDEX" val="9"/>
  <p:tag name="KSO_WM_UNIT_USESOURCEFORMAT_APPLY" val="1"/>
</p:tagLst>
</file>

<file path=ppt/tags/tag201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1402_4*l_h_i*1_5_2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9"/>
  <p:tag name="KSO_WM_UNIT_USESOURCEFORMAT_APPLY" val="1"/>
</p:tagLst>
</file>

<file path=ppt/tags/tag202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402_4*l_h_i*1_4_3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800000011920929,&quot;colorType&quot;:1,&quot;foreColorIndex&quot;:8,&quot;pos&quot;:1,&quot;transparency&quot;:1},{&quot;brightness&quot;:0.4000000059604645,&quot;colorType&quot;:1,&quot;foreColorIndex&quot;:8,&quot;pos&quot;:0.30000001192092896,&quot;transparency&quot;:0.800000011920929}],&quot;type&quot;:3},&quot;glow&quot;:{&quot;colorType&quot;:0},&quot;line&quot;:{&quot;gradient&quot;:[{&quot;brightness&quot;:0,&quot;colorType&quot;:1,&quot;foreColorIndex&quot;:8,&quot;pos&quot;:0.550000011920929,&quot;transparency&quot;:1},{&quot;brightness&quot;:0,&quot;colorType&quot;:1,&quot;foreColorIndex&quot;:8,&quot;pos&quot;:1,&quot;transparency&quot;:0}],&quot;type&quot;:2},&quot;shadow&quot;:{&quot;colorType&quot;:0},&quot;threeD&quot;:{&quot;curvedSurface&quot;:{&quot;brightness&quot;:0,&quot;colorType&quot;:2,&quot;rgb&quot;:&quot;#000000&quot;},&quot;depth&quot;:{&quot;brightness&quot;:0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8"/>
  <p:tag name="KSO_WM_UNIT_TEXT_FILL_FORE_SCHEMECOLOR_INDEX" val="2"/>
  <p:tag name="KSO_WM_UNIT_TEXT_FILL_TYPE" val="1"/>
  <p:tag name="KSO_WM_UNIT_USESOURCEFORMAT_APPLY" val="1"/>
</p:tagLst>
</file>

<file path=ppt/tags/tag203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402_4*l_h_i*1_4_1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BEAUTIFY_FLAG" val="#wm#"/>
  <p:tag name="KSO_WM_UNIT_FILL_TYPE" val="3"/>
  <p:tag name="KSO_WM_UNIT_SHADOW_SCHEMECOLOR_INDEX" val="8"/>
  <p:tag name="KSO_WM_UNIT_USESOURCEFORMAT_APPLY" val="1"/>
</p:tagLst>
</file>

<file path=ppt/tags/tag204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402_4*l_h_i*1_4_2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.4000000059604645,&quot;colorType&quot;:1,&quot;foreColorIndex&quot;:8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8"/>
  <p:tag name="KSO_WM_UNIT_USESOURCEFORMAT_APPLY" val="1"/>
</p:tagLst>
</file>

<file path=ppt/tags/tag205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402_4*l_h_i*1_3_3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800000011920929,&quot;colorType&quot;:1,&quot;foreColorIndex&quot;:5,&quot;pos&quot;:1,&quot;transparency&quot;:1},{&quot;brightness&quot;:0.4000000059604645,&quot;colorType&quot;:1,&quot;foreColorIndex&quot;:5,&quot;pos&quot;:0.30000001192092896,&quot;transparency&quot;:0.800000011920929}],&quot;type&quot;:3},&quot;glow&quot;:{&quot;colorType&quot;:0},&quot;line&quot;:{&quot;gradient&quot;:[{&quot;brightness&quot;:0,&quot;colorType&quot;:1,&quot;foreColorIndex&quot;:5,&quot;pos&quot;:0.550000011920929,&quot;transparency&quot;:1},{&quot;brightness&quot;:0,&quot;colorType&quot;:1,&quot;foreColorIndex&quot;:5,&quot;pos&quot;:1,&quot;transparency&quot;:0.6000000238418579}],&quot;type&quot;:2},&quot;shadow&quot;:{&quot;colorType&quot;:0},&quot;threeD&quot;:{&quot;curvedSurface&quot;:{&quot;brightness&quot;:0,&quot;colorType&quot;:2,&quot;rgb&quot;:&quot;#000000&quot;},&quot;depth&quot;:{&quot;brightness&quot;:0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7"/>
  <p:tag name="KSO_WM_UNIT_TEXT_FILL_FORE_SCHEMECOLOR_INDEX" val="2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402_4*l_h_i*1_3_1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BEAUTIFY_FLAG" val="#wm#"/>
  <p:tag name="KSO_WM_UNIT_FILL_TYPE" val="3"/>
  <p:tag name="KSO_WM_UNIT_SHADOW_SCHEMECOLOR_INDEX" val="7"/>
  <p:tag name="KSO_WM_UNIT_USESOURCEFORMAT_APPLY" val="1"/>
</p:tagLst>
</file>

<file path=ppt/tags/tag207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402_4*l_h_i*1_3_2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7"/>
  <p:tag name="KSO_WM_UNIT_USESOURCEFORMAT_APPLY" val="1"/>
</p:tagLst>
</file>

<file path=ppt/tags/tag208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402_4*l_h_i*1_2_3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800000011920929,&quot;colorType&quot;:1,&quot;foreColorIndex&quot;:8,&quot;pos&quot;:1,&quot;transparency&quot;:1},{&quot;brightness&quot;:0.4000000059604645,&quot;colorType&quot;:1,&quot;foreColorIndex&quot;:8,&quot;pos&quot;:0.30000001192092896,&quot;transparency&quot;:0.800000011920929}],&quot;type&quot;:3},&quot;glow&quot;:{&quot;colorType&quot;:0},&quot;line&quot;:{&quot;gradient&quot;:[{&quot;brightness&quot;:0,&quot;colorType&quot;:1,&quot;foreColorIndex&quot;:8,&quot;pos&quot;:0.550000011920929,&quot;transparency&quot;:1},{&quot;brightness&quot;:0,&quot;colorType&quot;:1,&quot;foreColorIndex&quot;:8,&quot;pos&quot;:1,&quot;transparency&quot;:0}],&quot;type&quot;:2},&quot;shadow&quot;:{&quot;colorType&quot;:0},&quot;threeD&quot;:{&quot;curvedSurface&quot;:{&quot;brightness&quot;:0,&quot;colorType&quot;:2,&quot;rgb&quot;:&quot;#000000&quot;},&quot;depth&quot;:{&quot;brightness&quot;:0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209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402_4*l_h_i*1_2_1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4000000059604645,&quot;colorType&quot;:1,&quot;foreColorIndex&quot;:8,&quot;pos&quot;:0,&quot;transparency&quot;:0},{&quot;brightness&quot;:0,&quot;colorType&quot;:1,&quot;foreColorIndex&quot;:8,&quot;pos&quot;:1,&quot;transparency&quot;:0}],&quot;type&quot;:3},&quot;glow&quot;:{&quot;colorType&quot;:0},&quot;line&quot;:{&quot;type&quot;:0},&quot;shadow&quot;:{&quot;brightness&quot;:0,&quot;colorType&quot;:1,&quot;foreColorIndex&quot;:8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BEAUTIFY_FLAG" val="#wm#"/>
  <p:tag name="KSO_WM_UNIT_FILL_TYPE" val="3"/>
  <p:tag name="KSO_WM_UNIT_SHADOW_SCHEMECOLOR_INDEX" val="6"/>
  <p:tag name="KSO_WM_UNIT_USESOURCEFORMAT_APPLY" val="1"/>
</p:tagLst>
</file>

<file path=ppt/tags/tag210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402_4*l_h_i*1_2_2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gradient&quot;:[{&quot;brightness&quot;:0,&quot;colorType&quot;:1,&quot;foreColorIndex&quot;:8,&quot;pos&quot;:0,&quot;transparency&quot;:0},{&quot;brightness&quot;:0.4000000059604645,&quot;colorType&quot;:1,&quot;foreColorIndex&quot;:8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6"/>
  <p:tag name="KSO_WM_UNIT_USESOURCEFORMAT_APPLY" val="1"/>
</p:tagLst>
</file>

<file path=ppt/tags/tag211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402_4*l_h_i*1_1_3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800000011920929,&quot;colorType&quot;:1,&quot;foreColorIndex&quot;:5,&quot;pos&quot;:1,&quot;transparency&quot;:0.800000011920929},{&quot;brightness&quot;:0.4000000059604645,&quot;colorType&quot;:1,&quot;foreColorIndex&quot;:5,&quot;pos&quot;:0.03999999910593033,&quot;transparency&quot;:0.800000011920929}],&quot;type&quot;:3},&quot;glow&quot;:{&quot;colorType&quot;:0},&quot;line&quot;:{&quot;gradient&quot;:[{&quot;brightness&quot;:0,&quot;colorType&quot;:1,&quot;foreColorIndex&quot;:5,&quot;pos&quot;:0.550000011920929,&quot;transparency&quot;:1},{&quot;brightness&quot;:0,&quot;colorType&quot;:1,&quot;foreColorIndex&quot;:5,&quot;pos&quot;:1,&quot;transparency&quot;:0.6000000238418579}],&quot;type&quot;:2},&quot;shadow&quot;:{&quot;colorType&quot;:0},&quot;threeD&quot;:{&quot;curvedSurface&quot;:{&quot;brightness&quot;:0,&quot;colorType&quot;:2,&quot;rgb&quot;:&quot;#000000&quot;},&quot;depth&quot;:{&quot;brightness&quot;:0,&quot;colorType&quot;:1,&quot;foreColorIndex&quot;:14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212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402_4*l_h_i*1_1_1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BEAUTIFY_FLAG" val="#wm#"/>
  <p:tag name="KSO_WM_UNIT_FILL_TYPE" val="3"/>
  <p:tag name="KSO_WM_UNIT_SHADOW_SCHEMECOLOR_INDEX" val="5"/>
  <p:tag name="KSO_WM_UNIT_USESOURCEFORMAT_APPLY" val="1"/>
</p:tagLst>
</file>

<file path=ppt/tags/tag213.xml><?xml version="1.0" encoding="utf-8"?>
<p:tagLst xmlns:p="http://schemas.openxmlformats.org/presentationml/2006/main">
  <p:tag name="KSO_WM_DIAGRAM_VERSION" val="3"/>
  <p:tag name="KSO_WM_DIAGRAM_COLOR_TRICK" val="2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402_4*l_h_i*1_1_2"/>
  <p:tag name="KSO_WM_TEMPLATE_CATEGORY" val="diagram"/>
  <p:tag name="KSO_WM_TEMPLATE_INDEX" val="20231402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UNIT_USESOURCEFORMAT_APPLY" val="1"/>
</p:tagLst>
</file>

<file path=ppt/tags/tag21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1402_4*l_h_a*1_2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2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1402_4*l_h_f*1_2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请尽量言简意赅的阐述观点"/>
  <p:tag name="KSO_WM_UNIT_TEXT_FILL_FORE_SCHEMECOLOR_INDEX" val="1"/>
  <p:tag name="KSO_WM_UNIT_TEXT_FILL_TYPE" val="1"/>
  <p:tag name="KSO_WM_UNIT_USESOURCEFORMAT_APPLY" val="1"/>
</p:tagLst>
</file>

<file path=ppt/tags/tag2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1402_4*l_h_a*1_4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1402_4*l_h_f*1_4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diagram20231402_4*l_h_a*1_5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2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1402_4*l_h_f*1_5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1402_4*l_h_a*1_3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1402_4*l_h_f*1_3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项正文，请尽量言简意赅的阐述观点"/>
  <p:tag name="KSO_WM_UNIT_TEXT_FILL_FORE_SCHEMECOLOR_INDEX" val="1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1402_4*l_h_a*1_1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1402_4*l_h_f*1_1_1"/>
  <p:tag name="KSO_WM_TEMPLATE_CATEGORY" val="diagram"/>
  <p:tag name="KSO_WM_TEMPLATE_INDEX" val="20231402"/>
  <p:tag name="KSO_WM_UNIT_LAYERLEVEL" val="1_1_1"/>
  <p:tag name="KSO_WM_TAG_VERSION" val="3.0"/>
  <p:tag name="KSO_WM_DIAGRAM_VERSION" val="3"/>
  <p:tag name="KSO_WM_DIAGRAM_COLOR_TRICK" val="2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369.12760863162,&quot;left&quot;:54.143541666666636,&quot;top&quot;:134.32895277900627,&quot;width&quot;:850.662968749999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402_3*a*1"/>
  <p:tag name="KSO_WM_TEMPLATE_CATEGORY" val="diagram"/>
  <p:tag name="KSO_WM_TEMPLATE_INDEX" val="20231402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105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SPECIAL_SOURCE" val="bdnull"/>
  <p:tag name="KSO_WM_DIAGRAM_GROUP_CODE" val="l1-1"/>
  <p:tag name="KSO_WM_SLIDE_DIAGTYPE" val="l"/>
</p:tagLst>
</file>

<file path=ppt/tags/tag226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6953_3*l_h_i*1_2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6953_3*l_h_i*1_3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6953_3*l_h_i*1_1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6953_3*l_h_a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0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6953_3*l_h_f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1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6953_3*l_h_i*1_4_2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.6000000238418579,&quot;colorType&quot;:1,&quot;foreColorIndex&quot;:5,&quot;transparency&quot;:0.819999992847442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6953_3*l_h_a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3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6953_3*l_h_f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4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6953_3*l_h_i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6953_3*l_h_a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6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6953_3*l_h_f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7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6953_3*l_h_i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38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6953_3*l_h_a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SCONTENTSTITLE" val="0"/>
  <p:tag name="KSO_WM_UNIT_ISNUMDGMTITLE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39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6953_3*l_h_f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内容，简明阐述您的观点。根据需要可增减文字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240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6953_3*l_h_i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6953_3*l_h_i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gradient&quot;:[{&quot;brightness&quot;:0,&quot;colorType&quot;:1,&quot;foreColorIndex&quot;:5,&quot;pos&quot;:0.9300000071525574,&quot;transparency&quot;:0},{&quot;brightness&quot;:0.6000000238418579,&quot;colorType&quot;:1,&quot;foreColorIndex&quot;:5,&quot;pos&quot;:0,&quot;transparency&quot;:0}],&quot;type&quot;:3},&quot;glow&quot;:{&quot;colorType&quot;:0},&quot;line&quot;:{&quot;solidLine&quot;:{&quot;brightness&quot;:0,&quot;colorType&quot;:1,&quot;foreColorIndex&quot;:1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LINE_FORE_SCHEMECOLOR_INDEX" val="1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VALUE" val="79*7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6953_3*l_h_x*1_2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243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VALUE" val="74*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6953_3*l_h_x*1_1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244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6953_3*l_h_x*1_3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245.xml><?xml version="1.0" encoding="utf-8"?>
<p:tagLst xmlns:p="http://schemas.openxmlformats.org/presentationml/2006/main">
  <p:tag name="KSO_WM_DIAGRAM_VIRTUALLY_FRAME" val="{&quot;height&quot;:270.31813528842144,&quot;left&quot;:82.51395833333333,&quot;top&quot;:179.90107175047427,&quot;width&quot;:786.4798958333332}"/>
  <p:tag name="KSO_WM_DIAGRAM_VERSION" val="3"/>
  <p:tag name="KSO_WM_DIAGRAM_COLOR_TRICK" val="1"/>
  <p:tag name="KSO_WM_DIAGRAM_COLOR_TEXT_CAN_REMOVE" val="n"/>
  <p:tag name="KSO_WM_UNIT_VALUE" val="92*9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6953_3*l_h_x*1_4_1"/>
  <p:tag name="KSO_WM_TEMPLATE_CATEGORY" val="diagram"/>
  <p:tag name="KSO_WM_TEMPLATE_INDEX" val="20236953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6953_3*a*1"/>
  <p:tag name="KSO_WM_TEMPLATE_CATEGORY" val="diagram"/>
  <p:tag name="KSO_WM_TEMPLATE_INDEX" val="20236953"/>
  <p:tag name="KSO_WM_UNIT_LAYERLEVEL" val="1"/>
  <p:tag name="KSO_WM_TAG_VERSION" val="3.0"/>
  <p:tag name="KSO_WM_BEAUTIFY_FLAG" val="#wm#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47.xml><?xml version="1.0" encoding="utf-8"?>
<p:tagLst xmlns:p="http://schemas.openxmlformats.org/presentationml/2006/main">
  <p:tag name="KSO_WM_SLIDE_ID" val="custom20233105_8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8"/>
  <p:tag name="KSO_WM_SLIDE_SIZE" val="850*457"/>
  <p:tag name="KSO_WM_SLIDE_POSITION" val="54*28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105"/>
  <p:tag name="KSO_WM_SLIDE_LAYOUT" val="a_f"/>
  <p:tag name="KSO_WM_SLIDE_LAYOUT_CNT" val="1_1"/>
</p:tagLst>
</file>

<file path=ppt/tags/tag24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4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5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5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52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5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5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5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5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6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6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6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6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6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6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67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6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6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0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7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7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73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74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27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7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7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80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8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8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83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84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28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87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88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8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90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91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29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9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94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9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9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97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9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99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0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01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0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30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04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05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0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07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3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09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1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1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1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313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31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1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16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1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1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19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2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21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2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323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324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32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2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2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28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329.xml><?xml version="1.0" encoding="utf-8"?>
<p:tagLst xmlns:p="http://schemas.openxmlformats.org/presentationml/2006/main">
  <p:tag name="KSO_WM_UNIT_INDEX" val="9"/>
  <p:tag name="KSO_WM_UNIT_TYPE" val="j"/>
  <p:tag name="KSO_WM_BEAUTIFY_FLAG" val="#wm#"/>
</p:tagLst>
</file>

<file path=ppt/tags/tag330.xml><?xml version="1.0" encoding="utf-8"?>
<p:tagLst xmlns:p="http://schemas.openxmlformats.org/presentationml/2006/main">
  <p:tag name="KSO_WM_UNIT_INDEX" val="10"/>
  <p:tag name="KSO_WM_UNIT_TYPE" val="j"/>
  <p:tag name="KSO_WM_BEAUTIFY_FLAG" val="#wm#"/>
</p:tagLst>
</file>

<file path=ppt/tags/tag331.xml><?xml version="1.0" encoding="utf-8"?>
<p:tagLst xmlns:p="http://schemas.openxmlformats.org/presentationml/2006/main">
  <p:tag name="KSO_WM_UNIT_INDEX" val="11"/>
  <p:tag name="KSO_WM_UNIT_TYPE" val="j"/>
  <p:tag name="KSO_WM_BEAUTIFY_FLAG" val="#wm#"/>
</p:tagLst>
</file>

<file path=ppt/tags/tag332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33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3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35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336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37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3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39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4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34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4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34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44.xml><?xml version="1.0" encoding="utf-8"?>
<p:tagLst xmlns:p="http://schemas.openxmlformats.org/presentationml/2006/main">
  <p:tag name="KSO_WM_SLIDE_TYPE" val="text"/>
  <p:tag name="KSO_WM_BEAUTIFY_FLAG" val="#wm#"/>
  <p:tag name="KSO_WM_SLIDE_ID" val="custom20233105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3105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85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2428</Words>
  <Application>WPS 文字</Application>
  <PresentationFormat>On-screen Show (4:3)</PresentationFormat>
  <Paragraphs>308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59" baseType="lpstr">
      <vt:lpstr>Arial</vt:lpstr>
      <vt:lpstr>宋体</vt:lpstr>
      <vt:lpstr>Wingdings</vt:lpstr>
      <vt:lpstr>Arial</vt:lpstr>
      <vt:lpstr>Songti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Wingdings</vt:lpstr>
      <vt:lpstr>苹方-简</vt:lpstr>
      <vt:lpstr>MiSans Heavy</vt:lpstr>
      <vt:lpstr>MiSans Light</vt:lpstr>
      <vt:lpstr>+中文正文</vt:lpstr>
      <vt:lpstr>Calibri</vt:lpstr>
      <vt:lpstr>Roboto Regular</vt:lpstr>
      <vt:lpstr>思源黑体 CN Regular</vt:lpstr>
      <vt:lpstr>Thonburi</vt:lpstr>
      <vt:lpstr>汉仪中黑KW</vt:lpstr>
      <vt:lpstr>微软雅黑</vt:lpstr>
      <vt:lpstr>微软雅黑</vt:lpstr>
      <vt:lpstr>Roboto Regular</vt:lpstr>
      <vt:lpstr>思源黑体 CN Regular</vt:lpstr>
      <vt:lpstr>方正小标宋简体</vt:lpstr>
      <vt:lpstr>等线</vt:lpstr>
      <vt:lpstr>汉仪中等线KW</vt:lpstr>
      <vt:lpstr>方正新秀丽繁体</vt:lpstr>
      <vt:lpstr>方正博雅宋简体</vt:lpstr>
      <vt:lpstr>SimSong</vt:lpstr>
      <vt:lpstr>Office Theme</vt:lpstr>
      <vt:lpstr>1_Office 主题</vt:lpstr>
      <vt:lpstr>1_Office 主题​​</vt:lpstr>
      <vt:lpstr>面向边缘智能的 SwinIR 端侧超分系统</vt:lpstr>
      <vt:lpstr>重要内容预览</vt:lpstr>
      <vt:lpstr>目录</vt:lpstr>
      <vt:lpstr>项目背景与核心痛点</vt:lpstr>
      <vt:lpstr>作品介绍与应用场景</vt:lpstr>
      <vt:lpstr>系统总体框架与协同机制</vt:lpstr>
      <vt:lpstr>模型选型与部署验证链路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雨沐风</cp:lastModifiedBy>
  <cp:revision>5</cp:revision>
  <dcterms:created xsi:type="dcterms:W3CDTF">2026-05-05T15:36:47Z</dcterms:created>
  <dcterms:modified xsi:type="dcterms:W3CDTF">2026-05-05T15:36:47Z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A8B83DB9DB4E63CD0AB2F969D8CE1025_42</vt:lpwstr>
  </property>
</Properties>
</file>